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65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67" r:id="rId20"/>
    <p:sldId id="278" r:id="rId21"/>
    <p:sldId id="279" r:id="rId22"/>
    <p:sldId id="277" r:id="rId23"/>
    <p:sldId id="280" r:id="rId24"/>
    <p:sldId id="281" r:id="rId25"/>
    <p:sldId id="282" r:id="rId26"/>
    <p:sldId id="28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4" d="100"/>
          <a:sy n="74" d="100"/>
        </p:scale>
        <p:origin x="3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35370-C0F7-9C22-A2A4-66A124964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E9CF00-89F0-51EB-B309-2C489691D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554C0-C624-67AC-67FF-A4C765077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2DAE-B482-4E99-8284-E0D90AC1548F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5A947-2C72-CF55-D66D-3AABF4065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D6784-2002-BA38-51AB-103ECA821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ECE4-BB28-4AD2-95A5-6E0EC11A5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994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9E125-7FF6-AF18-0985-E27073779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2DC54-D738-64DD-9AAE-FB3F141AB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5AC3C-D9FD-C0CF-10CE-2CB8C4AD3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2DAE-B482-4E99-8284-E0D90AC1548F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48797-5D6A-267F-4019-75CFFCA5B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0BC44-85A4-6D85-FB16-4DCE0FF5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ECE4-BB28-4AD2-95A5-6E0EC11A5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099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F94D2-14B8-8FA6-6E16-BC9BC5D34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43928-61AC-378E-A8FD-E8618A488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51B59-8545-3AA0-2AFF-03121240C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2DAE-B482-4E99-8284-E0D90AC1548F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8683E-4870-D808-0962-238142A9A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D7FF1-0FB0-2892-D166-2A9583F6E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ECE4-BB28-4AD2-95A5-6E0EC11A5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987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FA2EA-BD27-7E41-3A77-5D0ACE385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284C8-9456-53D8-B63D-048B38F340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42E829-F55C-1987-352D-0629B26195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63309-431B-C6C8-EF6D-39232E60D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2DAE-B482-4E99-8284-E0D90AC1548F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51996-E97F-0D78-1866-8FC33D46B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A1E80F-C692-F091-F682-07F0CDF6E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ECE4-BB28-4AD2-95A5-6E0EC11A5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94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8BBFD-7B02-322C-07C0-75B2EE651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8700A-C0DE-9F25-0104-792172801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1A583A-BB53-14ED-73DB-CDB3A665D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61F13D-44CA-175E-3E05-B574A2AB92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804EF6-886F-8BDC-ABD2-16F6056B0E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29EC29-FDD2-3E1A-E78B-CC7F16D43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2DAE-B482-4E99-8284-E0D90AC1548F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C16D7E-A0E8-96F7-1C84-3B32C69E3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F2CAFB-926B-EBEB-31D6-13C85F9E6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ECE4-BB28-4AD2-95A5-6E0EC11A5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314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3C3FE-CDF7-DFB4-812E-0BE2749A8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6EFA82-79DC-127B-294E-60DF314BE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2DAE-B482-4E99-8284-E0D90AC1548F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C5C6A5-DCE2-4937-D630-2925988FB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487CBA-50E0-527C-A2A8-7A338EBD7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ECE4-BB28-4AD2-95A5-6E0EC11A5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631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66890C-3654-A3BA-A711-B8E69B5CE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2DAE-B482-4E99-8284-E0D90AC1548F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ED3809-E775-DF0B-CCC7-A609EE01A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E662F-BCB6-2DD9-B122-161A05D7A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ECE4-BB28-4AD2-95A5-6E0EC11A5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708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1DECC-7A50-5D26-93CE-2C42F1E6F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B05D2-FC25-B74B-70E4-783745344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C52DF-2B33-2822-A135-883C59315C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01427-BFA1-4584-4EBB-5C569FE67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2DAE-B482-4E99-8284-E0D90AC1548F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196CDB-BADD-F844-284C-29EF71AF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68DAF-D515-DD8C-D69D-9AC8EE912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ECE4-BB28-4AD2-95A5-6E0EC11A5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758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13B99-7EE6-82C2-0991-5A425675B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942845-54E0-CAC3-B952-55D1A86839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A31A5F-FDE1-F959-B869-1C45528DD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312368-655F-8087-7D8D-75FDF26A8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2DAE-B482-4E99-8284-E0D90AC1548F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0FD2A-17A5-A40F-5506-560C6E2D0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D4E435-CB1B-22C6-7815-0CCFFAD46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ECE4-BB28-4AD2-95A5-6E0EC11A5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26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7A867-A890-ACC3-4656-ED4E10B71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E44663-040A-4571-0250-33A8704BC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0BAB6-D060-DF9E-A882-FF185E120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2DAE-B482-4E99-8284-E0D90AC1548F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1CA02-3233-E019-A0A8-C9639AF65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927A8-2CF1-9B1C-D040-408B9E669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ECE4-BB28-4AD2-95A5-6E0EC11A5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743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F616F8-F249-6F99-08DA-C54E27AC8E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E0F02D-F538-BBDF-AB6D-C431D90E9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C2938-F78C-246F-3581-4BDC6837C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2DAE-B482-4E99-8284-E0D90AC1548F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191FC-8A96-4C4D-DF0F-68755E6FD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40D7C-2EDD-E7A8-7D48-EE25061A9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ECE4-BB28-4AD2-95A5-6E0EC11A5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50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C6968D-8220-3F99-F7B1-50AAA26D0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E6B24-BBEA-2A86-6C3B-4A9E141E6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90375-5E04-050C-DA26-B2E2D9E419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42DAE-B482-4E99-8284-E0D90AC1548F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65363-6905-C0CF-CB0B-41330CC302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4F509-BFD3-F446-92C5-4BE522AF6E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AECE4-BB28-4AD2-95A5-6E0EC11A5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992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94F6A4-4B59-FB1B-960B-1C972D69BC6B}"/>
              </a:ext>
            </a:extLst>
          </p:cNvPr>
          <p:cNvSpPr txBox="1"/>
          <p:nvPr/>
        </p:nvSpPr>
        <p:spPr>
          <a:xfrm>
            <a:off x="1145177" y="2567226"/>
            <a:ext cx="990164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DSCI 101 – Midterm Review</a:t>
            </a:r>
          </a:p>
        </p:txBody>
      </p:sp>
    </p:spTree>
    <p:extLst>
      <p:ext uri="{BB962C8B-B14F-4D97-AF65-F5344CB8AC3E}">
        <p14:creationId xmlns:p14="http://schemas.microsoft.com/office/powerpoint/2010/main" val="1500884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2248D-24D3-999F-F062-F4AD48B90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Wrangling – select()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AD9FBA-46C2-9C54-797B-04FFCE9CD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330" y="2021840"/>
            <a:ext cx="4979670" cy="33424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019191-08EE-F02B-E015-F7D46CBC5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8080" y="2021840"/>
            <a:ext cx="2402840" cy="3423920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3EB21701-0314-F82E-BE06-D06CEDF83CF5}"/>
              </a:ext>
            </a:extLst>
          </p:cNvPr>
          <p:cNvSpPr/>
          <p:nvPr/>
        </p:nvSpPr>
        <p:spPr>
          <a:xfrm>
            <a:off x="6548120" y="3136669"/>
            <a:ext cx="1767840" cy="9245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56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58F5DE1-418A-CE82-0C91-93CC903C6A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523624"/>
              </p:ext>
            </p:extLst>
          </p:nvPr>
        </p:nvGraphicFramePr>
        <p:xfrm>
          <a:off x="792479" y="382385"/>
          <a:ext cx="10607042" cy="62771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48896">
                  <a:extLst>
                    <a:ext uri="{9D8B030D-6E8A-4147-A177-3AD203B41FA5}">
                      <a16:colId xmlns:a16="http://schemas.microsoft.com/office/drawing/2014/main" val="2029232168"/>
                    </a:ext>
                  </a:extLst>
                </a:gridCol>
                <a:gridCol w="4558146">
                  <a:extLst>
                    <a:ext uri="{9D8B030D-6E8A-4147-A177-3AD203B41FA5}">
                      <a16:colId xmlns:a16="http://schemas.microsoft.com/office/drawing/2014/main" val="1422565980"/>
                    </a:ext>
                  </a:extLst>
                </a:gridCol>
              </a:tblGrid>
              <a:tr h="445872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297262"/>
                  </a:ext>
                </a:extLst>
              </a:tr>
              <a:tr h="1165019"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Choose specific column name from the data frame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new_data</a:t>
                      </a:r>
                      <a:r>
                        <a:rPr lang="en-US" sz="18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 &lt;- data %&gt;%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  select(Variable1, Variable3)</a:t>
                      </a:r>
                    </a:p>
                    <a:p>
                      <a:endParaRPr lang="en-US" sz="240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522696"/>
                  </a:ext>
                </a:extLst>
              </a:tr>
              <a:tr h="2243741"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Select Columns by Name Patterns:</a:t>
                      </a:r>
                    </a:p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 special helper functions like `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starts_with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()`, `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ends_with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()`, `contains()`, `matches()`, and `everything()` to select columns based on their names.</a:t>
                      </a:r>
                    </a:p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284739"/>
                  </a:ext>
                </a:extLst>
              </a:tr>
              <a:tr h="1165019"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Exclude Columns: To exclude specific columns, you can use the "-" (minus) sign before the column name.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new_data</a:t>
                      </a:r>
                      <a:r>
                        <a:rPr lang="en-US" sz="18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 &lt;- data %&gt;%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  select(-Variable2,-Variable4)</a:t>
                      </a:r>
                    </a:p>
                    <a:p>
                      <a:endParaRPr lang="en-US" sz="1800" dirty="0">
                        <a:solidFill>
                          <a:schemeClr val="accent1"/>
                        </a:solidFill>
                        <a:latin typeface="Lucida Console" panose="020B06090405040202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935947"/>
                  </a:ext>
                </a:extLst>
              </a:tr>
              <a:tr h="1165019"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Select Columns by Index and Range: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new_data</a:t>
                      </a:r>
                      <a:r>
                        <a:rPr lang="en-US" sz="18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 &lt;- data %&gt;%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  select(c(1,3))</a:t>
                      </a:r>
                    </a:p>
                    <a:p>
                      <a:endParaRPr lang="en-US" sz="1800" dirty="0">
                        <a:solidFill>
                          <a:schemeClr val="accent1"/>
                        </a:solidFill>
                        <a:latin typeface="Lucida Console" panose="020B06090405040202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281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5996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2248D-24D3-999F-F062-F4AD48B90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Wrangling – filter()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EB21701-0314-F82E-BE06-D06CEDF83CF5}"/>
              </a:ext>
            </a:extLst>
          </p:cNvPr>
          <p:cNvSpPr/>
          <p:nvPr/>
        </p:nvSpPr>
        <p:spPr>
          <a:xfrm>
            <a:off x="5829995" y="3136669"/>
            <a:ext cx="1767840" cy="9245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C04B1E-37E3-4377-C61B-7EFC5F5B0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77" y="1870334"/>
            <a:ext cx="4918710" cy="41665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8D1E7D-E9F6-7F5D-7846-E92ADB36E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925" y="2685443"/>
            <a:ext cx="3943350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079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58F5DE1-418A-CE82-0C91-93CC903C6A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244648"/>
              </p:ext>
            </p:extLst>
          </p:nvPr>
        </p:nvGraphicFramePr>
        <p:xfrm>
          <a:off x="523702" y="382385"/>
          <a:ext cx="10875819" cy="62878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2116">
                  <a:extLst>
                    <a:ext uri="{9D8B030D-6E8A-4147-A177-3AD203B41FA5}">
                      <a16:colId xmlns:a16="http://schemas.microsoft.com/office/drawing/2014/main" val="2029232168"/>
                    </a:ext>
                  </a:extLst>
                </a:gridCol>
                <a:gridCol w="4333703">
                  <a:extLst>
                    <a:ext uri="{9D8B030D-6E8A-4147-A177-3AD203B41FA5}">
                      <a16:colId xmlns:a16="http://schemas.microsoft.com/office/drawing/2014/main" val="1422565980"/>
                    </a:ext>
                  </a:extLst>
                </a:gridCol>
              </a:tblGrid>
              <a:tr h="445872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297262"/>
                  </a:ext>
                </a:extLst>
              </a:tr>
              <a:tr h="735529"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Simple Conditions - greater than (`&gt;`), less than (`&lt;`), or equal to (`==`)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new_data</a:t>
                      </a:r>
                      <a:r>
                        <a:rPr lang="en-US" sz="18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 &lt;- data %&gt;%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  filter(Variable1 &gt; 30)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r>
                        <a:rPr lang="en-US" sz="1800" kern="1200" dirty="0" err="1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new_data</a:t>
                      </a:r>
                      <a:r>
                        <a:rPr lang="en-US" sz="18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 &lt;- data %&gt;%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  filter(Variable2 == "yes")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522696"/>
                  </a:ext>
                </a:extLst>
              </a:tr>
              <a:tr h="2205645"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Multiple Conditions - You can combine conditions using logical operators like `&amp;` (AND) and `|` (OR).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new_data</a:t>
                      </a:r>
                      <a:r>
                        <a:rPr lang="en-US" sz="18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 &lt;- data %&gt;%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  filter(Variable1 &gt; 30 &amp; Variable2 &lt; 50000)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r>
                        <a:rPr lang="en-US" sz="1800" kern="1200" dirty="0" err="1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new_data</a:t>
                      </a:r>
                      <a:r>
                        <a:rPr lang="en-US" sz="18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 &lt;- data %&gt;%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  filter(Variable1 &gt; 30 | Variable2 &lt; 50000)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284739"/>
                  </a:ext>
                </a:extLst>
              </a:tr>
              <a:tr h="958045"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Exclusion - to exclude certain rows, you can use the `!=` operator (not equal to).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new_data</a:t>
                      </a:r>
                      <a:r>
                        <a:rPr lang="en-US" sz="18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 &lt;- data %&gt;%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  filter(Variable4 != 30)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935947"/>
                  </a:ext>
                </a:extLst>
              </a:tr>
              <a:tr h="1165019"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Filter rows based on vector of conditions - The `%in%` operator is useful for filtering rows with values in a specified vector.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new_data</a:t>
                      </a:r>
                      <a:r>
                        <a:rPr lang="en-US" sz="18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 &lt;- data %&gt;%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  filter(Variable3 %in% c("bananas", "grapes")) </a:t>
                      </a:r>
                    </a:p>
                    <a:p>
                      <a:endParaRPr lang="en-US" sz="1800" dirty="0">
                        <a:solidFill>
                          <a:schemeClr val="accent1"/>
                        </a:solidFill>
                        <a:latin typeface="Lucida Console" panose="020B06090405040202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281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261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2248D-24D3-999F-F062-F4AD48B90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Wrangling – mutate()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EB21701-0314-F82E-BE06-D06CEDF83CF5}"/>
              </a:ext>
            </a:extLst>
          </p:cNvPr>
          <p:cNvSpPr/>
          <p:nvPr/>
        </p:nvSpPr>
        <p:spPr>
          <a:xfrm>
            <a:off x="4993179" y="3283527"/>
            <a:ext cx="1410391" cy="7777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289A80-5C1E-76F7-E252-BA3817AFE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75" y="2030613"/>
            <a:ext cx="4315431" cy="35555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54C85B-ECA0-7CCA-8D71-0E739DF9A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744" y="2030613"/>
            <a:ext cx="5110681" cy="355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222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58F5DE1-418A-CE82-0C91-93CC903C6A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765675"/>
              </p:ext>
            </p:extLst>
          </p:nvPr>
        </p:nvGraphicFramePr>
        <p:xfrm>
          <a:off x="523702" y="382385"/>
          <a:ext cx="10875819" cy="58964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2116">
                  <a:extLst>
                    <a:ext uri="{9D8B030D-6E8A-4147-A177-3AD203B41FA5}">
                      <a16:colId xmlns:a16="http://schemas.microsoft.com/office/drawing/2014/main" val="2029232168"/>
                    </a:ext>
                  </a:extLst>
                </a:gridCol>
                <a:gridCol w="4333703">
                  <a:extLst>
                    <a:ext uri="{9D8B030D-6E8A-4147-A177-3AD203B41FA5}">
                      <a16:colId xmlns:a16="http://schemas.microsoft.com/office/drawing/2014/main" val="1422565980"/>
                    </a:ext>
                  </a:extLst>
                </a:gridCol>
              </a:tblGrid>
              <a:tr h="445872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297262"/>
                  </a:ext>
                </a:extLst>
              </a:tr>
              <a:tr h="735529">
                <a:tc>
                  <a:txBody>
                    <a:bodyPr/>
                    <a:lstStyle/>
                    <a:p>
                      <a:r>
                        <a:rPr lang="en-US" sz="2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Create a new variable calculated from another variable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rgbClr val="0070C0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new_data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 &lt;- data %&gt;%</a:t>
                      </a:r>
                    </a:p>
                    <a:p>
                      <a:r>
                        <a:rPr lang="en-US" sz="1800" kern="1200" dirty="0">
                          <a:solidFill>
                            <a:srgbClr val="0070C0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  mutate(Variable5 = Variable2 / 12)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522696"/>
                  </a:ext>
                </a:extLst>
              </a:tr>
              <a:tr h="14006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 can use other functions within mutate to help us make the new variable like `</a:t>
                      </a:r>
                      <a:r>
                        <a:rPr lang="en-US" sz="2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ifelse</a:t>
                      </a:r>
                      <a:r>
                        <a:rPr lang="en-US" sz="2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()`.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rgbClr val="0070C0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new_data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 &lt;- data %&gt;%</a:t>
                      </a:r>
                    </a:p>
                    <a:p>
                      <a:r>
                        <a:rPr lang="en-US" sz="1800" kern="1200" dirty="0">
                          <a:solidFill>
                            <a:srgbClr val="0070C0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  mutate(Variable5 = </a:t>
                      </a:r>
                      <a:r>
                        <a:rPr lang="en-US" sz="1800" kern="1200" dirty="0" err="1">
                          <a:solidFill>
                            <a:srgbClr val="0070C0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ifelse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(Variable1 &gt; 30, "Old", "Young"))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284739"/>
                  </a:ext>
                </a:extLst>
              </a:tr>
              <a:tr h="958045">
                <a:tc>
                  <a:txBody>
                    <a:bodyPr/>
                    <a:lstStyle/>
                    <a:p>
                      <a:r>
                        <a:rPr lang="en-US" sz="2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If you have multiple condition you can use the `</a:t>
                      </a:r>
                      <a:r>
                        <a:rPr lang="en-US" sz="2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case_when</a:t>
                      </a:r>
                      <a:r>
                        <a:rPr lang="en-US" sz="2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()` function and list out your possible options.</a:t>
                      </a:r>
                    </a:p>
                    <a:p>
                      <a:r>
                        <a:rPr lang="en-US" sz="2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r>
                        <a:rPr lang="en-US" sz="2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rgbClr val="0070C0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new_data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 &lt;- data %&gt;%</a:t>
                      </a:r>
                    </a:p>
                    <a:p>
                      <a:r>
                        <a:rPr lang="en-US" sz="1800" kern="1200" dirty="0">
                          <a:solidFill>
                            <a:srgbClr val="0070C0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  mutate(Variable5 = </a:t>
                      </a:r>
                      <a:r>
                        <a:rPr lang="en-US" sz="1800" kern="1200" dirty="0" err="1">
                          <a:solidFill>
                            <a:srgbClr val="0070C0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case_when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(</a:t>
                      </a:r>
                    </a:p>
                    <a:p>
                      <a:r>
                        <a:rPr lang="en-US" sz="1800" kern="1200" dirty="0">
                          <a:solidFill>
                            <a:srgbClr val="0070C0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    Variable1 &lt; 30 ~ "Young",</a:t>
                      </a:r>
                    </a:p>
                    <a:p>
                      <a:r>
                        <a:rPr lang="en-US" sz="1800" kern="1200" dirty="0">
                          <a:solidFill>
                            <a:srgbClr val="0070C0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    Variable1 &gt;= 30 &amp; Variable1 &lt;= 50 ~ "Middle-aged",</a:t>
                      </a:r>
                    </a:p>
                    <a:p>
                      <a:r>
                        <a:rPr lang="en-US" sz="1800" kern="1200" dirty="0">
                          <a:solidFill>
                            <a:srgbClr val="0070C0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    Variable1 &gt; 50 ~ "Old",</a:t>
                      </a:r>
                    </a:p>
                    <a:p>
                      <a:r>
                        <a:rPr lang="en-US" sz="1800" kern="1200" dirty="0">
                          <a:solidFill>
                            <a:srgbClr val="0070C0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    TRUE ~ "No Category"</a:t>
                      </a:r>
                    </a:p>
                    <a:p>
                      <a:r>
                        <a:rPr lang="en-US" sz="1800" kern="1200" dirty="0">
                          <a:solidFill>
                            <a:srgbClr val="0070C0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  ))</a:t>
                      </a:r>
                    </a:p>
                    <a:p>
                      <a:endParaRPr lang="en-US" sz="1800" kern="1200" dirty="0">
                        <a:solidFill>
                          <a:srgbClr val="0070C0"/>
                        </a:solidFill>
                        <a:effectLst/>
                        <a:latin typeface="Lucida Console" panose="020B060904050402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935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7464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2248D-24D3-999F-F062-F4AD48B90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Wrangling – </a:t>
            </a:r>
            <a:r>
              <a:rPr lang="en-US" dirty="0" err="1"/>
              <a:t>summarise</a:t>
            </a:r>
            <a:r>
              <a:rPr lang="en-US" dirty="0"/>
              <a:t>() &amp; </a:t>
            </a:r>
            <a:r>
              <a:rPr lang="en-US" dirty="0" err="1"/>
              <a:t>group_by</a:t>
            </a:r>
            <a:endParaRPr lang="en-US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EB21701-0314-F82E-BE06-D06CEDF83CF5}"/>
              </a:ext>
            </a:extLst>
          </p:cNvPr>
          <p:cNvSpPr/>
          <p:nvPr/>
        </p:nvSpPr>
        <p:spPr>
          <a:xfrm>
            <a:off x="3290454" y="3460404"/>
            <a:ext cx="1248295" cy="7005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E664BD-9E54-32DF-A881-FDC0C9F31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74" y="1926632"/>
            <a:ext cx="2945475" cy="39523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FD820A-A9E0-76E0-7B7D-DA194FCF7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324" y="1926632"/>
            <a:ext cx="3407006" cy="39523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CCE6C0-3C78-68A2-D1F6-1CCBB133E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4391" y="3163858"/>
            <a:ext cx="2465935" cy="1092258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C2802281-E11D-6D85-63DA-9848D124EF6A}"/>
              </a:ext>
            </a:extLst>
          </p:cNvPr>
          <p:cNvSpPr/>
          <p:nvPr/>
        </p:nvSpPr>
        <p:spPr>
          <a:xfrm>
            <a:off x="8096770" y="3429000"/>
            <a:ext cx="1248295" cy="7005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67519B-DC44-FB21-7D8B-E4CFB1DC305A}"/>
              </a:ext>
            </a:extLst>
          </p:cNvPr>
          <p:cNvSpPr txBox="1"/>
          <p:nvPr/>
        </p:nvSpPr>
        <p:spPr>
          <a:xfrm>
            <a:off x="3196937" y="2979192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group_by</a:t>
            </a:r>
            <a:r>
              <a:rPr lang="en-US" dirty="0"/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CE7768-7F45-8848-B921-CFFE2168E207}"/>
              </a:ext>
            </a:extLst>
          </p:cNvPr>
          <p:cNvSpPr txBox="1"/>
          <p:nvPr/>
        </p:nvSpPr>
        <p:spPr>
          <a:xfrm>
            <a:off x="8005330" y="2979192"/>
            <a:ext cx="1407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summarise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979417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58F5DE1-418A-CE82-0C91-93CC903C6A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84592"/>
              </p:ext>
            </p:extLst>
          </p:nvPr>
        </p:nvGraphicFramePr>
        <p:xfrm>
          <a:off x="658090" y="1018111"/>
          <a:ext cx="10875819" cy="38668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29942">
                  <a:extLst>
                    <a:ext uri="{9D8B030D-6E8A-4147-A177-3AD203B41FA5}">
                      <a16:colId xmlns:a16="http://schemas.microsoft.com/office/drawing/2014/main" val="2029232168"/>
                    </a:ext>
                  </a:extLst>
                </a:gridCol>
                <a:gridCol w="6145877">
                  <a:extLst>
                    <a:ext uri="{9D8B030D-6E8A-4147-A177-3AD203B41FA5}">
                      <a16:colId xmlns:a16="http://schemas.microsoft.com/office/drawing/2014/main" val="1422565980"/>
                    </a:ext>
                  </a:extLst>
                </a:gridCol>
              </a:tblGrid>
              <a:tr h="445872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297262"/>
                  </a:ext>
                </a:extLst>
              </a:tr>
              <a:tr h="2205645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 different statistics (mean, median..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etc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grouped by different variables.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new_data</a:t>
                      </a:r>
                      <a:r>
                        <a:rPr lang="en-US" sz="18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 &lt;- data %&gt;%  </a:t>
                      </a:r>
                    </a:p>
                    <a:p>
                      <a:r>
                        <a:rPr lang="en-US" sz="1800" kern="1200" dirty="0" err="1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group_by</a:t>
                      </a:r>
                      <a:r>
                        <a:rPr lang="en-US" sz="18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(Variable1, Variable2) %&gt;%  </a:t>
                      </a:r>
                      <a:r>
                        <a:rPr lang="en-US" sz="1800" kern="1200" dirty="0" err="1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summarise</a:t>
                      </a:r>
                      <a:r>
                        <a:rPr lang="en-US" sz="18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(NEW_VARIABLE1 = mean(Variable1),            NEW_VARIABLE2 = median(Variable2))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284739"/>
                  </a:ext>
                </a:extLst>
              </a:tr>
              <a:tr h="958045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you do not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group_by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it will make a computation on the entire column: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err="1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new_data</a:t>
                      </a:r>
                      <a:r>
                        <a:rPr lang="en-US" sz="18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 &lt;- data %&gt;%  </a:t>
                      </a:r>
                      <a:r>
                        <a:rPr lang="en-US" sz="1800" kern="1200" dirty="0" err="1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summarise</a:t>
                      </a:r>
                      <a:r>
                        <a:rPr lang="en-US" sz="18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(NEW_VARIABLE1 = mean(Variable1),            NEW_VARIABLE2 = median(Variable2))</a:t>
                      </a:r>
                    </a:p>
                    <a:p>
                      <a:endParaRPr lang="en-US" sz="1800" kern="1200" dirty="0">
                        <a:solidFill>
                          <a:schemeClr val="accent1"/>
                        </a:solidFill>
                        <a:effectLst/>
                        <a:latin typeface="Lucida Console" panose="020B060904050402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935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7955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2248D-24D3-999F-F062-F4AD48B90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Wrangling – arrange()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EB21701-0314-F82E-BE06-D06CEDF83CF5}"/>
              </a:ext>
            </a:extLst>
          </p:cNvPr>
          <p:cNvSpPr/>
          <p:nvPr/>
        </p:nvSpPr>
        <p:spPr>
          <a:xfrm>
            <a:off x="5275812" y="3308466"/>
            <a:ext cx="1410391" cy="7777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CC32EA-D409-0EA4-5DFF-9CDD4A773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45" y="2375305"/>
            <a:ext cx="4725180" cy="28617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B87B1A-929F-A060-4B14-A296F64A7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1" y="2375305"/>
            <a:ext cx="4955165" cy="286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292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58F5DE1-418A-CE82-0C91-93CC903C6A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477103"/>
              </p:ext>
            </p:extLst>
          </p:nvPr>
        </p:nvGraphicFramePr>
        <p:xfrm>
          <a:off x="523702" y="382385"/>
          <a:ext cx="10875819" cy="36839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29942">
                  <a:extLst>
                    <a:ext uri="{9D8B030D-6E8A-4147-A177-3AD203B41FA5}">
                      <a16:colId xmlns:a16="http://schemas.microsoft.com/office/drawing/2014/main" val="2029232168"/>
                    </a:ext>
                  </a:extLst>
                </a:gridCol>
                <a:gridCol w="6145877">
                  <a:extLst>
                    <a:ext uri="{9D8B030D-6E8A-4147-A177-3AD203B41FA5}">
                      <a16:colId xmlns:a16="http://schemas.microsoft.com/office/drawing/2014/main" val="1422565980"/>
                    </a:ext>
                  </a:extLst>
                </a:gridCol>
              </a:tblGrid>
              <a:tr h="445872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297262"/>
                  </a:ext>
                </a:extLst>
              </a:tr>
              <a:tr h="2205645">
                <a:tc>
                  <a:txBody>
                    <a:bodyPr/>
                    <a:lstStyle/>
                    <a:p>
                      <a:r>
                        <a:rPr lang="en-US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Arrange in ascending order (smallest to largest)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n-NO" sz="20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new_data &lt;- data %&gt;%  </a:t>
                      </a:r>
                    </a:p>
                    <a:p>
                      <a:r>
                        <a:rPr lang="nn-NO" sz="20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arrange(Variable1)</a:t>
                      </a:r>
                      <a:endParaRPr lang="en-US" sz="2000" kern="1200" dirty="0">
                        <a:solidFill>
                          <a:schemeClr val="accent1"/>
                        </a:solidFill>
                        <a:effectLst/>
                        <a:latin typeface="Lucida Console" panose="020B060904050402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284739"/>
                  </a:ext>
                </a:extLst>
              </a:tr>
              <a:tr h="958045">
                <a:tc>
                  <a:txBody>
                    <a:bodyPr/>
                    <a:lstStyle/>
                    <a:p>
                      <a:r>
                        <a:rPr lang="en-US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Arrange in descending order (largest to smallest)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dirty="0" err="1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new_data</a:t>
                      </a:r>
                      <a:r>
                        <a:rPr lang="en-US" sz="20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 &lt;- data %&gt;%  arrange(desc(Variable1))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935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7094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2248D-24D3-999F-F062-F4AD48B90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Wrangling – count()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EB21701-0314-F82E-BE06-D06CEDF83CF5}"/>
              </a:ext>
            </a:extLst>
          </p:cNvPr>
          <p:cNvSpPr/>
          <p:nvPr/>
        </p:nvSpPr>
        <p:spPr>
          <a:xfrm>
            <a:off x="5275812" y="3308466"/>
            <a:ext cx="1410391" cy="7777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CB1240-98E7-6CEA-1488-709D00B07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59" y="2450190"/>
            <a:ext cx="4858183" cy="26438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12DAA8-98A7-2A21-36FD-629E7D980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072" y="2793077"/>
            <a:ext cx="3157105" cy="145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094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58F5DE1-418A-CE82-0C91-93CC903C6A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336491"/>
              </p:ext>
            </p:extLst>
          </p:nvPr>
        </p:nvGraphicFramePr>
        <p:xfrm>
          <a:off x="523702" y="382385"/>
          <a:ext cx="10875819" cy="39887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29942">
                  <a:extLst>
                    <a:ext uri="{9D8B030D-6E8A-4147-A177-3AD203B41FA5}">
                      <a16:colId xmlns:a16="http://schemas.microsoft.com/office/drawing/2014/main" val="2029232168"/>
                    </a:ext>
                  </a:extLst>
                </a:gridCol>
                <a:gridCol w="6145877">
                  <a:extLst>
                    <a:ext uri="{9D8B030D-6E8A-4147-A177-3AD203B41FA5}">
                      <a16:colId xmlns:a16="http://schemas.microsoft.com/office/drawing/2014/main" val="1422565980"/>
                    </a:ext>
                  </a:extLst>
                </a:gridCol>
              </a:tblGrid>
              <a:tr h="445872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297262"/>
                  </a:ext>
                </a:extLst>
              </a:tr>
              <a:tr h="2205645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 the occurrences of each "category"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new_data</a:t>
                      </a:r>
                      <a:r>
                        <a:rPr lang="en-US" sz="18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 &lt;- data %&gt;% 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count(Variable1)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284739"/>
                  </a:ext>
                </a:extLst>
              </a:tr>
              <a:tr h="958045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achieve the same thing as count using summarize. With summarize you can name the new variable whatever you want. With count, it automatically calls it “n”.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new_data</a:t>
                      </a:r>
                      <a:r>
                        <a:rPr lang="en-US" sz="18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 &lt;- data %&gt;%</a:t>
                      </a:r>
                    </a:p>
                    <a:p>
                      <a:r>
                        <a:rPr lang="en-US" sz="1800" kern="1200" dirty="0" err="1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group_by</a:t>
                      </a:r>
                      <a:r>
                        <a:rPr lang="en-US" sz="18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(Variable1) %&gt;% </a:t>
                      </a:r>
                      <a:r>
                        <a:rPr lang="en-US" sz="1800" kern="1200" dirty="0" err="1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summarise</a:t>
                      </a:r>
                      <a:r>
                        <a:rPr lang="en-US" sz="1800" kern="1200" dirty="0">
                          <a:solidFill>
                            <a:schemeClr val="accent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Times New Roman" panose="02020603050405020304" pitchFamily="18" charset="0"/>
                        </a:rPr>
                        <a:t>(NEW_VARIABLE = n())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935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8260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2248D-24D3-999F-F062-F4AD48B90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304"/>
            <a:ext cx="10515600" cy="1325563"/>
          </a:xfrm>
        </p:spPr>
        <p:txBody>
          <a:bodyPr/>
          <a:lstStyle/>
          <a:p>
            <a:r>
              <a:rPr lang="en-US" dirty="0"/>
              <a:t>Joining Datasets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E56D40-0096-20D6-1293-19680FDCC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583" y="1436867"/>
            <a:ext cx="3943350" cy="16954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287E54-6DCC-C039-318D-C3BA4C73F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306" y="1436867"/>
            <a:ext cx="3971925" cy="1714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87BAD9-78FD-B3C6-7B27-AAAF35FED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1626" y="4823258"/>
            <a:ext cx="6800850" cy="1704975"/>
          </a:xfrm>
          <a:prstGeom prst="rect">
            <a:avLst/>
          </a:prstGeom>
        </p:spPr>
      </p:pic>
      <p:sp>
        <p:nvSpPr>
          <p:cNvPr id="5" name="Plus Sign 4">
            <a:extLst>
              <a:ext uri="{FF2B5EF4-FFF2-40B4-BE49-F238E27FC236}">
                <a16:creationId xmlns:a16="http://schemas.microsoft.com/office/drawing/2014/main" id="{707027CC-98A6-748A-7AD1-9606F8A7D5E9}"/>
              </a:ext>
            </a:extLst>
          </p:cNvPr>
          <p:cNvSpPr/>
          <p:nvPr/>
        </p:nvSpPr>
        <p:spPr>
          <a:xfrm>
            <a:off x="5101911" y="1919473"/>
            <a:ext cx="1140278" cy="1010787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quals 5">
            <a:extLst>
              <a:ext uri="{FF2B5EF4-FFF2-40B4-BE49-F238E27FC236}">
                <a16:creationId xmlns:a16="http://schemas.microsoft.com/office/drawing/2014/main" id="{D74A6A42-B426-08E4-DA7D-1079D82D7F81}"/>
              </a:ext>
            </a:extLst>
          </p:cNvPr>
          <p:cNvSpPr/>
          <p:nvPr/>
        </p:nvSpPr>
        <p:spPr>
          <a:xfrm>
            <a:off x="4644438" y="3721861"/>
            <a:ext cx="2055223" cy="880290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470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2248D-24D3-999F-F062-F4AD48B90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Joining Datasets – </a:t>
            </a:r>
            <a:r>
              <a:rPr lang="en-US" dirty="0" err="1"/>
              <a:t>inner_join</a:t>
            </a:r>
            <a:r>
              <a:rPr lang="en-US" dirty="0"/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F34546-CA6C-A147-82B5-9DC5ACFEA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409" y="1776226"/>
            <a:ext cx="3962400" cy="17049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28D9CF-B253-8888-8D73-91BD3C731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394" y="1690688"/>
            <a:ext cx="3933825" cy="17240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4A250C-ECE2-C1E3-E7C9-96F3A7A4C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1150" y="4456276"/>
            <a:ext cx="6781800" cy="11525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7703A35-CBF6-CFA7-1E3C-433FBE99562A}"/>
              </a:ext>
            </a:extLst>
          </p:cNvPr>
          <p:cNvSpPr txBox="1"/>
          <p:nvPr/>
        </p:nvSpPr>
        <p:spPr>
          <a:xfrm>
            <a:off x="1386997" y="5937545"/>
            <a:ext cx="9710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Lucida Console" panose="020B0609040504020204" pitchFamily="49" charset="0"/>
              </a:rPr>
              <a:t>new_data</a:t>
            </a:r>
            <a:r>
              <a:rPr lang="en-US" dirty="0">
                <a:latin typeface="Lucida Console" panose="020B0609040504020204" pitchFamily="49" charset="0"/>
              </a:rPr>
              <a:t> &lt;- </a:t>
            </a:r>
            <a:r>
              <a:rPr lang="en-US" dirty="0" err="1">
                <a:latin typeface="Lucida Console" panose="020B0609040504020204" pitchFamily="49" charset="0"/>
              </a:rPr>
              <a:t>left_data</a:t>
            </a:r>
            <a:r>
              <a:rPr lang="en-US" dirty="0">
                <a:latin typeface="Lucida Console" panose="020B0609040504020204" pitchFamily="49" charset="0"/>
              </a:rPr>
              <a:t> %&gt;%  </a:t>
            </a:r>
          </a:p>
          <a:p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 err="1">
                <a:latin typeface="Lucida Console" panose="020B0609040504020204" pitchFamily="49" charset="0"/>
              </a:rPr>
              <a:t>inner_join</a:t>
            </a:r>
            <a:r>
              <a:rPr lang="en-US" dirty="0">
                <a:latin typeface="Lucida Console" panose="020B0609040504020204" pitchFamily="49" charset="0"/>
              </a:rPr>
              <a:t>(</a:t>
            </a:r>
            <a:r>
              <a:rPr lang="en-US" dirty="0" err="1">
                <a:latin typeface="Lucida Console" panose="020B0609040504020204" pitchFamily="49" charset="0"/>
              </a:rPr>
              <a:t>right_data</a:t>
            </a:r>
            <a:r>
              <a:rPr lang="en-US" dirty="0">
                <a:latin typeface="Lucida Console" panose="020B0609040504020204" pitchFamily="49" charset="0"/>
              </a:rPr>
              <a:t>, by = c("Variable1" = "Variable1"))</a:t>
            </a:r>
          </a:p>
        </p:txBody>
      </p:sp>
      <p:sp>
        <p:nvSpPr>
          <p:cNvPr id="3" name="Plus Sign 2">
            <a:extLst>
              <a:ext uri="{FF2B5EF4-FFF2-40B4-BE49-F238E27FC236}">
                <a16:creationId xmlns:a16="http://schemas.microsoft.com/office/drawing/2014/main" id="{8CED14BB-975E-54DA-9565-1D23A05C94F3}"/>
              </a:ext>
            </a:extLst>
          </p:cNvPr>
          <p:cNvSpPr/>
          <p:nvPr/>
        </p:nvSpPr>
        <p:spPr>
          <a:xfrm>
            <a:off x="5101911" y="1919473"/>
            <a:ext cx="1140278" cy="1010787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quals 3">
            <a:extLst>
              <a:ext uri="{FF2B5EF4-FFF2-40B4-BE49-F238E27FC236}">
                <a16:creationId xmlns:a16="http://schemas.microsoft.com/office/drawing/2014/main" id="{E0CEC64F-8196-5A49-1643-1EACC25B4004}"/>
              </a:ext>
            </a:extLst>
          </p:cNvPr>
          <p:cNvSpPr/>
          <p:nvPr/>
        </p:nvSpPr>
        <p:spPr>
          <a:xfrm>
            <a:off x="4722816" y="3495349"/>
            <a:ext cx="2055223" cy="880290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773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2248D-24D3-999F-F062-F4AD48B90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Joining Datasets – </a:t>
            </a:r>
            <a:r>
              <a:rPr lang="en-US" dirty="0" err="1"/>
              <a:t>left_join</a:t>
            </a:r>
            <a:r>
              <a:rPr lang="en-US" dirty="0"/>
              <a:t>()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3AF20F-6201-FDE6-DE6B-31D303834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47904"/>
            <a:ext cx="3962400" cy="17049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45C1DC-888C-5266-123B-87998DEF1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498" y="1547904"/>
            <a:ext cx="3933825" cy="1724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7D3447-CE55-0A2C-4A51-605425399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6385" y="4202377"/>
            <a:ext cx="6791325" cy="17240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5C7136-1303-4872-0AEC-0F0ECA6772F7}"/>
              </a:ext>
            </a:extLst>
          </p:cNvPr>
          <p:cNvSpPr txBox="1"/>
          <p:nvPr/>
        </p:nvSpPr>
        <p:spPr>
          <a:xfrm>
            <a:off x="2153945" y="6066176"/>
            <a:ext cx="90914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Lucida Console" panose="020B0609040504020204" pitchFamily="49" charset="0"/>
              </a:rPr>
              <a:t>new_data</a:t>
            </a:r>
            <a:r>
              <a:rPr lang="en-US" dirty="0">
                <a:latin typeface="Lucida Console" panose="020B0609040504020204" pitchFamily="49" charset="0"/>
              </a:rPr>
              <a:t> &lt;- </a:t>
            </a:r>
            <a:r>
              <a:rPr lang="en-US" dirty="0" err="1">
                <a:latin typeface="Lucida Console" panose="020B0609040504020204" pitchFamily="49" charset="0"/>
              </a:rPr>
              <a:t>left_data</a:t>
            </a:r>
            <a:r>
              <a:rPr lang="en-US" dirty="0">
                <a:latin typeface="Lucida Console" panose="020B0609040504020204" pitchFamily="49" charset="0"/>
              </a:rPr>
              <a:t> %&gt;%  </a:t>
            </a:r>
          </a:p>
          <a:p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 err="1">
                <a:latin typeface="Lucida Console" panose="020B0609040504020204" pitchFamily="49" charset="0"/>
              </a:rPr>
              <a:t>left_join</a:t>
            </a:r>
            <a:r>
              <a:rPr lang="en-US" dirty="0">
                <a:latin typeface="Lucida Console" panose="020B0609040504020204" pitchFamily="49" charset="0"/>
              </a:rPr>
              <a:t>(</a:t>
            </a:r>
            <a:r>
              <a:rPr lang="en-US" dirty="0" err="1">
                <a:latin typeface="Lucida Console" panose="020B0609040504020204" pitchFamily="49" charset="0"/>
              </a:rPr>
              <a:t>right_data</a:t>
            </a:r>
            <a:r>
              <a:rPr lang="en-US" dirty="0">
                <a:latin typeface="Lucida Console" panose="020B0609040504020204" pitchFamily="49" charset="0"/>
              </a:rPr>
              <a:t>, by = c("Variable1" = "Variable1"))</a:t>
            </a:r>
          </a:p>
        </p:txBody>
      </p:sp>
      <p:sp>
        <p:nvSpPr>
          <p:cNvPr id="5" name="Plus Sign 4">
            <a:extLst>
              <a:ext uri="{FF2B5EF4-FFF2-40B4-BE49-F238E27FC236}">
                <a16:creationId xmlns:a16="http://schemas.microsoft.com/office/drawing/2014/main" id="{39179F88-5616-C899-C5F9-011C0C762B0D}"/>
              </a:ext>
            </a:extLst>
          </p:cNvPr>
          <p:cNvSpPr/>
          <p:nvPr/>
        </p:nvSpPr>
        <p:spPr>
          <a:xfrm>
            <a:off x="5101910" y="2010890"/>
            <a:ext cx="1140278" cy="1010787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quals 5">
            <a:extLst>
              <a:ext uri="{FF2B5EF4-FFF2-40B4-BE49-F238E27FC236}">
                <a16:creationId xmlns:a16="http://schemas.microsoft.com/office/drawing/2014/main" id="{936429EE-D6B8-1D05-B928-0C63E4E0D1B8}"/>
              </a:ext>
            </a:extLst>
          </p:cNvPr>
          <p:cNvSpPr/>
          <p:nvPr/>
        </p:nvSpPr>
        <p:spPr>
          <a:xfrm>
            <a:off x="4644437" y="3338734"/>
            <a:ext cx="2055223" cy="880290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5719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2248D-24D3-999F-F062-F4AD48B90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018"/>
            <a:ext cx="10515600" cy="1325563"/>
          </a:xfrm>
        </p:spPr>
        <p:txBody>
          <a:bodyPr/>
          <a:lstStyle/>
          <a:p>
            <a:r>
              <a:rPr lang="en-US" dirty="0"/>
              <a:t>Joining Datasets – </a:t>
            </a:r>
            <a:r>
              <a:rPr lang="en-US" dirty="0" err="1"/>
              <a:t>right_join</a:t>
            </a:r>
            <a:r>
              <a:rPr lang="en-US" dirty="0"/>
              <a:t>()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078303-115D-854B-C7CF-76D397DDE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14" y="1488581"/>
            <a:ext cx="3962400" cy="17049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6D51A7-ECC0-0D9E-809C-6956D4CE9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757" y="1465171"/>
            <a:ext cx="3933825" cy="1724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798ABD-0076-CA69-5C1F-1334FAC15E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734" y="4233038"/>
            <a:ext cx="6781800" cy="1714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957045-A346-3C74-4FFE-0DA396A75520}"/>
              </a:ext>
            </a:extLst>
          </p:cNvPr>
          <p:cNvSpPr txBox="1"/>
          <p:nvPr/>
        </p:nvSpPr>
        <p:spPr>
          <a:xfrm>
            <a:off x="1244831" y="6106730"/>
            <a:ext cx="97453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Lucida Console" panose="020B0609040504020204" pitchFamily="49" charset="0"/>
              </a:rPr>
              <a:t>new_data</a:t>
            </a:r>
            <a:r>
              <a:rPr lang="en-US" dirty="0">
                <a:latin typeface="Lucida Console" panose="020B0609040504020204" pitchFamily="49" charset="0"/>
              </a:rPr>
              <a:t> &lt;- </a:t>
            </a:r>
            <a:r>
              <a:rPr lang="en-US" dirty="0" err="1">
                <a:latin typeface="Lucida Console" panose="020B0609040504020204" pitchFamily="49" charset="0"/>
              </a:rPr>
              <a:t>left_data</a:t>
            </a:r>
            <a:r>
              <a:rPr lang="en-US" dirty="0">
                <a:latin typeface="Lucida Console" panose="020B0609040504020204" pitchFamily="49" charset="0"/>
              </a:rPr>
              <a:t> %&gt;% </a:t>
            </a:r>
          </a:p>
          <a:p>
            <a:r>
              <a:rPr lang="en-US" dirty="0">
                <a:latin typeface="Lucida Console" panose="020B0609040504020204" pitchFamily="49" charset="0"/>
              </a:rPr>
              <a:t>	</a:t>
            </a:r>
            <a:r>
              <a:rPr lang="en-US" dirty="0" err="1">
                <a:latin typeface="Lucida Console" panose="020B0609040504020204" pitchFamily="49" charset="0"/>
              </a:rPr>
              <a:t>right_join</a:t>
            </a:r>
            <a:r>
              <a:rPr lang="en-US" dirty="0">
                <a:latin typeface="Lucida Console" panose="020B0609040504020204" pitchFamily="49" charset="0"/>
              </a:rPr>
              <a:t>(</a:t>
            </a:r>
            <a:r>
              <a:rPr lang="en-US" dirty="0" err="1">
                <a:latin typeface="Lucida Console" panose="020B0609040504020204" pitchFamily="49" charset="0"/>
              </a:rPr>
              <a:t>right_data</a:t>
            </a:r>
            <a:r>
              <a:rPr lang="en-US" dirty="0">
                <a:latin typeface="Lucida Console" panose="020B0609040504020204" pitchFamily="49" charset="0"/>
              </a:rPr>
              <a:t>, by = c("Variable1" = "Variable1"))</a:t>
            </a:r>
          </a:p>
        </p:txBody>
      </p:sp>
      <p:sp>
        <p:nvSpPr>
          <p:cNvPr id="5" name="Plus Sign 4">
            <a:extLst>
              <a:ext uri="{FF2B5EF4-FFF2-40B4-BE49-F238E27FC236}">
                <a16:creationId xmlns:a16="http://schemas.microsoft.com/office/drawing/2014/main" id="{AA88EBAD-BAAC-096C-EDB7-4A719CFC2921}"/>
              </a:ext>
            </a:extLst>
          </p:cNvPr>
          <p:cNvSpPr/>
          <p:nvPr/>
        </p:nvSpPr>
        <p:spPr>
          <a:xfrm>
            <a:off x="5038496" y="1821789"/>
            <a:ext cx="1140278" cy="1010787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quals 5">
            <a:extLst>
              <a:ext uri="{FF2B5EF4-FFF2-40B4-BE49-F238E27FC236}">
                <a16:creationId xmlns:a16="http://schemas.microsoft.com/office/drawing/2014/main" id="{3F587CBD-8698-3A21-8FAE-14A766FB668E}"/>
              </a:ext>
            </a:extLst>
          </p:cNvPr>
          <p:cNvSpPr/>
          <p:nvPr/>
        </p:nvSpPr>
        <p:spPr>
          <a:xfrm>
            <a:off x="4581023" y="3325348"/>
            <a:ext cx="2055223" cy="880290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2902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2248D-24D3-999F-F062-F4AD48B90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514"/>
            <a:ext cx="10515600" cy="1325563"/>
          </a:xfrm>
        </p:spPr>
        <p:txBody>
          <a:bodyPr/>
          <a:lstStyle/>
          <a:p>
            <a:r>
              <a:rPr lang="en-US" dirty="0"/>
              <a:t>Joining Datasets – </a:t>
            </a:r>
            <a:r>
              <a:rPr lang="en-US" dirty="0" err="1"/>
              <a:t>full_join</a:t>
            </a:r>
            <a:r>
              <a:rPr lang="en-US" dirty="0"/>
              <a:t>()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91E67D-B725-2779-6566-CD5123C74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755" y="1222737"/>
            <a:ext cx="3962400" cy="17049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70AE63-645B-F5AA-07DC-15EE4A1A7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661" y="1183640"/>
            <a:ext cx="3933825" cy="1724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6CEAE6-4F50-930B-C7AF-31EC894EBE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742" y="3869145"/>
            <a:ext cx="6791325" cy="22669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349F52-228B-802C-04D0-33C468601D55}"/>
              </a:ext>
            </a:extLst>
          </p:cNvPr>
          <p:cNvSpPr txBox="1"/>
          <p:nvPr/>
        </p:nvSpPr>
        <p:spPr>
          <a:xfrm>
            <a:off x="1519844" y="6211669"/>
            <a:ext cx="94877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Lucida Console" panose="020B0609040504020204" pitchFamily="49" charset="0"/>
              </a:rPr>
              <a:t>new_data</a:t>
            </a:r>
            <a:r>
              <a:rPr lang="en-US" dirty="0">
                <a:latin typeface="Lucida Console" panose="020B0609040504020204" pitchFamily="49" charset="0"/>
              </a:rPr>
              <a:t> &lt;- </a:t>
            </a:r>
            <a:r>
              <a:rPr lang="en-US" dirty="0" err="1">
                <a:latin typeface="Lucida Console" panose="020B0609040504020204" pitchFamily="49" charset="0"/>
              </a:rPr>
              <a:t>left_data</a:t>
            </a:r>
            <a:r>
              <a:rPr lang="en-US" dirty="0">
                <a:latin typeface="Lucida Console" panose="020B0609040504020204" pitchFamily="49" charset="0"/>
              </a:rPr>
              <a:t> %&gt;%  </a:t>
            </a:r>
          </a:p>
          <a:p>
            <a:r>
              <a:rPr lang="en-US" dirty="0">
                <a:latin typeface="Lucida Console" panose="020B0609040504020204" pitchFamily="49" charset="0"/>
              </a:rPr>
              <a:t>	</a:t>
            </a:r>
            <a:r>
              <a:rPr lang="en-US" dirty="0" err="1">
                <a:latin typeface="Lucida Console" panose="020B0609040504020204" pitchFamily="49" charset="0"/>
              </a:rPr>
              <a:t>full_join</a:t>
            </a:r>
            <a:r>
              <a:rPr lang="en-US" dirty="0">
                <a:latin typeface="Lucida Console" panose="020B0609040504020204" pitchFamily="49" charset="0"/>
              </a:rPr>
              <a:t>(</a:t>
            </a:r>
            <a:r>
              <a:rPr lang="en-US" dirty="0" err="1">
                <a:latin typeface="Lucida Console" panose="020B0609040504020204" pitchFamily="49" charset="0"/>
              </a:rPr>
              <a:t>right_data</a:t>
            </a:r>
            <a:r>
              <a:rPr lang="en-US" dirty="0">
                <a:latin typeface="Lucida Console" panose="020B0609040504020204" pitchFamily="49" charset="0"/>
              </a:rPr>
              <a:t>, by = c("Variable1" = "Variable1"))</a:t>
            </a:r>
          </a:p>
        </p:txBody>
      </p:sp>
      <p:sp>
        <p:nvSpPr>
          <p:cNvPr id="5" name="Plus Sign 4">
            <a:extLst>
              <a:ext uri="{FF2B5EF4-FFF2-40B4-BE49-F238E27FC236}">
                <a16:creationId xmlns:a16="http://schemas.microsoft.com/office/drawing/2014/main" id="{E0D6F242-F45B-58C4-CCB3-657618E3227F}"/>
              </a:ext>
            </a:extLst>
          </p:cNvPr>
          <p:cNvSpPr/>
          <p:nvPr/>
        </p:nvSpPr>
        <p:spPr>
          <a:xfrm>
            <a:off x="5258269" y="1451405"/>
            <a:ext cx="1140278" cy="1010787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quals 5">
            <a:extLst>
              <a:ext uri="{FF2B5EF4-FFF2-40B4-BE49-F238E27FC236}">
                <a16:creationId xmlns:a16="http://schemas.microsoft.com/office/drawing/2014/main" id="{9E998F25-719F-1B4B-014B-6267B49F8534}"/>
              </a:ext>
            </a:extLst>
          </p:cNvPr>
          <p:cNvSpPr/>
          <p:nvPr/>
        </p:nvSpPr>
        <p:spPr>
          <a:xfrm>
            <a:off x="4800794" y="2988855"/>
            <a:ext cx="2055223" cy="880290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511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A0A2D4B-6317-497F-4981-7303194F9FC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Pivot – </a:t>
            </a:r>
            <a:r>
              <a:rPr lang="en-US" dirty="0" err="1"/>
              <a:t>pivot_longer</a:t>
            </a:r>
            <a:r>
              <a:rPr lang="en-US" dirty="0"/>
              <a:t>() &amp; </a:t>
            </a:r>
            <a:r>
              <a:rPr lang="en-US" dirty="0" err="1"/>
              <a:t>pivot_wider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E66CC6-D456-0146-FAF8-EE373FFE5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66329"/>
            <a:ext cx="3990975" cy="11239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E7862B-B3FD-EBDB-591C-561F30542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7434" y="1970560"/>
            <a:ext cx="3841865" cy="2887462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DCA3EF62-B97F-4073-F5D4-5F923A357F07}"/>
              </a:ext>
            </a:extLst>
          </p:cNvPr>
          <p:cNvSpPr/>
          <p:nvPr/>
        </p:nvSpPr>
        <p:spPr>
          <a:xfrm>
            <a:off x="5554871" y="2744441"/>
            <a:ext cx="1410391" cy="7777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D982205-02E7-EF43-1032-C083A5BB6FEF}"/>
              </a:ext>
            </a:extLst>
          </p:cNvPr>
          <p:cNvSpPr/>
          <p:nvPr/>
        </p:nvSpPr>
        <p:spPr>
          <a:xfrm rot="10800000">
            <a:off x="5493109" y="4350640"/>
            <a:ext cx="1410391" cy="7777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F9D72F-0AA8-6999-5A74-4C3B577D95B4}"/>
              </a:ext>
            </a:extLst>
          </p:cNvPr>
          <p:cNvSpPr txBox="1"/>
          <p:nvPr/>
        </p:nvSpPr>
        <p:spPr>
          <a:xfrm>
            <a:off x="5554871" y="3790279"/>
            <a:ext cx="1533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pivot_wider</a:t>
            </a:r>
            <a:r>
              <a:rPr lang="en-US" dirty="0"/>
              <a:t>()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570FB8-5B4A-4B3E-B527-8FD73D5C6133}"/>
              </a:ext>
            </a:extLst>
          </p:cNvPr>
          <p:cNvSpPr txBox="1"/>
          <p:nvPr/>
        </p:nvSpPr>
        <p:spPr>
          <a:xfrm>
            <a:off x="5493109" y="2187713"/>
            <a:ext cx="1533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pivot_longer</a:t>
            </a:r>
            <a:r>
              <a:rPr lang="en-US" dirty="0"/>
              <a:t>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DA1D7C-E887-93ED-AA4C-F2BE301F7F09}"/>
              </a:ext>
            </a:extLst>
          </p:cNvPr>
          <p:cNvSpPr txBox="1"/>
          <p:nvPr/>
        </p:nvSpPr>
        <p:spPr>
          <a:xfrm>
            <a:off x="734211" y="5249902"/>
            <a:ext cx="60973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Lucida Console" panose="020B0609040504020204" pitchFamily="49" charset="0"/>
              </a:rPr>
              <a:t>n</a:t>
            </a:r>
            <a:r>
              <a:rPr lang="en-US" sz="1800" dirty="0" err="1">
                <a:latin typeface="Lucida Console" panose="020B0609040504020204" pitchFamily="49" charset="0"/>
              </a:rPr>
              <a:t>ew_data</a:t>
            </a:r>
            <a:r>
              <a:rPr lang="en-US" sz="1800" dirty="0">
                <a:latin typeface="Lucida Console" panose="020B0609040504020204" pitchFamily="49" charset="0"/>
              </a:rPr>
              <a:t> &lt;- data %&gt;%  </a:t>
            </a:r>
          </a:p>
          <a:p>
            <a:r>
              <a:rPr lang="en-US" sz="1800" b="1" dirty="0" err="1">
                <a:latin typeface="Lucida Console" panose="020B0609040504020204" pitchFamily="49" charset="0"/>
              </a:rPr>
              <a:t>pivot_longer</a:t>
            </a:r>
            <a:r>
              <a:rPr lang="en-US" sz="1800" dirty="0">
                <a:latin typeface="Lucida Console" panose="020B0609040504020204" pitchFamily="49" charset="0"/>
              </a:rPr>
              <a:t>(cols = -</a:t>
            </a:r>
            <a:r>
              <a:rPr lang="en-US" sz="1800" dirty="0" err="1">
                <a:latin typeface="Lucida Console" panose="020B0609040504020204" pitchFamily="49" charset="0"/>
              </a:rPr>
              <a:t>Pivot_Variable</a:t>
            </a:r>
            <a:r>
              <a:rPr lang="en-US" sz="1800" dirty="0">
                <a:latin typeface="Lucida Console" panose="020B0609040504020204" pitchFamily="49" charset="0"/>
              </a:rPr>
              <a:t>, </a:t>
            </a:r>
          </a:p>
          <a:p>
            <a:r>
              <a:rPr lang="en-US" sz="1800" dirty="0" err="1">
                <a:latin typeface="Lucida Console" panose="020B0609040504020204" pitchFamily="49" charset="0"/>
              </a:rPr>
              <a:t>names_to</a:t>
            </a:r>
            <a:r>
              <a:rPr lang="en-US" sz="1800" dirty="0">
                <a:latin typeface="Lucida Console" panose="020B0609040504020204" pitchFamily="49" charset="0"/>
              </a:rPr>
              <a:t> = “NEW_VARIABLE", </a:t>
            </a:r>
          </a:p>
          <a:p>
            <a:r>
              <a:rPr lang="en-US" sz="1800" dirty="0" err="1">
                <a:latin typeface="Lucida Console" panose="020B0609040504020204" pitchFamily="49" charset="0"/>
              </a:rPr>
              <a:t>values_to</a:t>
            </a:r>
            <a:r>
              <a:rPr lang="en-US" sz="1800" dirty="0">
                <a:latin typeface="Lucida Console" panose="020B0609040504020204" pitchFamily="49" charset="0"/>
              </a:rPr>
              <a:t> = “NEW_VARIABLE2")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D6A625-9439-2132-5F4E-50F4DD4EDFFC}"/>
              </a:ext>
            </a:extLst>
          </p:cNvPr>
          <p:cNvSpPr txBox="1"/>
          <p:nvPr/>
        </p:nvSpPr>
        <p:spPr>
          <a:xfrm>
            <a:off x="7641178" y="5341183"/>
            <a:ext cx="463790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Lucida Console" panose="020B0609040504020204" pitchFamily="49" charset="0"/>
              </a:rPr>
              <a:t>new_data</a:t>
            </a:r>
            <a:r>
              <a:rPr lang="en-US" sz="1600" dirty="0">
                <a:latin typeface="Lucida Console" panose="020B0609040504020204" pitchFamily="49" charset="0"/>
              </a:rPr>
              <a:t> &lt;- data %&gt;%  </a:t>
            </a:r>
          </a:p>
          <a:p>
            <a:r>
              <a:rPr lang="en-US" sz="1500" b="1" dirty="0" err="1">
                <a:latin typeface="Lucida Console" panose="020B0609040504020204" pitchFamily="49" charset="0"/>
              </a:rPr>
              <a:t>pivot_wider</a:t>
            </a:r>
            <a:r>
              <a:rPr lang="en-US" sz="1500" dirty="0">
                <a:latin typeface="Lucida Console" panose="020B0609040504020204" pitchFamily="49" charset="0"/>
              </a:rPr>
              <a:t>(</a:t>
            </a:r>
            <a:r>
              <a:rPr lang="en-US" sz="1500" dirty="0" err="1">
                <a:latin typeface="Lucida Console" panose="020B0609040504020204" pitchFamily="49" charset="0"/>
              </a:rPr>
              <a:t>names_from</a:t>
            </a:r>
            <a:r>
              <a:rPr lang="en-US" sz="1500" dirty="0">
                <a:latin typeface="Lucida Console" panose="020B0609040504020204" pitchFamily="49" charset="0"/>
              </a:rPr>
              <a:t> = NEW_VARIABLE, </a:t>
            </a:r>
          </a:p>
          <a:p>
            <a:r>
              <a:rPr lang="en-US" sz="1500" dirty="0" err="1">
                <a:latin typeface="Lucida Console" panose="020B0609040504020204" pitchFamily="49" charset="0"/>
              </a:rPr>
              <a:t>values_from</a:t>
            </a:r>
            <a:r>
              <a:rPr lang="en-US" sz="1500" dirty="0">
                <a:latin typeface="Lucida Console" panose="020B0609040504020204" pitchFamily="49" charset="0"/>
              </a:rPr>
              <a:t> = NEW_VARIABLE2)</a:t>
            </a:r>
          </a:p>
        </p:txBody>
      </p:sp>
    </p:spTree>
    <p:extLst>
      <p:ext uri="{BB962C8B-B14F-4D97-AF65-F5344CB8AC3E}">
        <p14:creationId xmlns:p14="http://schemas.microsoft.com/office/powerpoint/2010/main" val="3938481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9E889-6A15-7171-F1E1-ADACB616B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 – </a:t>
            </a:r>
            <a:r>
              <a:rPr lang="en-US" dirty="0" err="1"/>
              <a:t>ggplot</a:t>
            </a:r>
            <a:r>
              <a:rPr lang="en-US" dirty="0"/>
              <a:t>()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3C9DCF-93E5-3A96-840D-764A4117A0A5}"/>
                  </a:ext>
                </a:extLst>
              </p:cNvPr>
              <p:cNvSpPr txBox="1"/>
              <p:nvPr/>
            </p:nvSpPr>
            <p:spPr>
              <a:xfrm>
                <a:off x="731520" y="1953491"/>
                <a:ext cx="9717578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Data: </a:t>
                </a: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dataset you're working with.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Aesthetics Mapping (</a:t>
                </a:r>
                <a:r>
                  <a:rPr lang="en-US" sz="3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aes</a:t>
                </a:r>
                <a:r>
                  <a:rPr 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</a:t>
                </a: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data variables map to plot aesthetics like position, color, shape, etc.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0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000" i="1" dirty="0" smtClean="0">
                          <a:latin typeface="Cambria Math" panose="02040503050406030204" pitchFamily="18" charset="0"/>
                        </a:rPr>
                        <m:t>𝑣𝑎𝑟𝑖𝑎𝑏𝑙𝑒</m:t>
                      </m:r>
                      <m:r>
                        <a:rPr lang="en-US" sz="30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𝑣𝑎𝑟𝑖𝑎𝑏𝑙𝑒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3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i="1" dirty="0" smtClean="0">
                          <a:latin typeface="Cambria Math" panose="02040503050406030204" pitchFamily="18" charset="0"/>
                        </a:rPr>
                        <m:t>𝑐𝑜𝑙𝑜𝑟</m:t>
                      </m:r>
                      <m:r>
                        <a:rPr lang="en-US" sz="30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3000" i="1" dirty="0" smtClean="0">
                          <a:latin typeface="Cambria Math" panose="02040503050406030204" pitchFamily="18" charset="0"/>
                        </a:rPr>
                        <m:t>𝑣𝑎𝑟𝑖𝑎𝑏𝑙𝑒</m:t>
                      </m:r>
                      <m:r>
                        <a:rPr lang="en-US" sz="3000" i="1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i="1" dirty="0" smtClean="0">
                          <a:latin typeface="Cambria Math" panose="02040503050406030204" pitchFamily="18" charset="0"/>
                        </a:rPr>
                        <m:t>𝑓𝑖𝑙𝑙</m:t>
                      </m:r>
                      <m:r>
                        <a:rPr lang="en-US" sz="3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0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000" i="1" dirty="0" smtClean="0">
                          <a:latin typeface="Cambria Math" panose="02040503050406030204" pitchFamily="18" charset="0"/>
                        </a:rPr>
                        <m:t>𝑣𝑎𝑟𝑖𝑎𝑏𝑙𝑒</m:t>
                      </m:r>
                      <m:r>
                        <a:rPr lang="en-US" sz="300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3000" i="1" dirty="0" smtClean="0">
                          <a:latin typeface="Cambria Math" panose="02040503050406030204" pitchFamily="18" charset="0"/>
                        </a:rPr>
                        <m:t>h𝑎𝑝𝑒</m:t>
                      </m:r>
                      <m:r>
                        <a:rPr lang="en-US" sz="30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3000" i="1" dirty="0" smtClean="0">
                          <a:latin typeface="Cambria Math" panose="02040503050406030204" pitchFamily="18" charset="0"/>
                        </a:rPr>
                        <m:t>𝑣𝑎𝑟𝑖𝑎𝑏𝑙𝑒</m:t>
                      </m:r>
                      <m:r>
                        <a:rPr lang="en-US" sz="3000" i="1" dirty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3C9DCF-93E5-3A96-840D-764A4117A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953491"/>
                <a:ext cx="9717578" cy="4708981"/>
              </a:xfrm>
              <a:prstGeom prst="rect">
                <a:avLst/>
              </a:prstGeom>
              <a:blipFill>
                <a:blip r:embed="rId2"/>
                <a:stretch>
                  <a:fillRect l="-1255" t="-1682" r="-7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9976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9E889-6A15-7171-F1E1-ADACB616B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 – </a:t>
            </a:r>
            <a:r>
              <a:rPr lang="en-US" dirty="0" err="1"/>
              <a:t>ggplot</a:t>
            </a:r>
            <a:r>
              <a:rPr lang="en-US" dirty="0"/>
              <a:t>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3C9DCF-93E5-3A96-840D-764A4117A0A5}"/>
              </a:ext>
            </a:extLst>
          </p:cNvPr>
          <p:cNvSpPr txBox="1"/>
          <p:nvPr/>
        </p:nvSpPr>
        <p:spPr>
          <a:xfrm>
            <a:off x="731520" y="1953491"/>
            <a:ext cx="971757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Geometric Objects (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geom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visual elements to represent the data (points, lines, bars, etc.).</a:t>
            </a:r>
          </a:p>
          <a:p>
            <a:pPr lvl="2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geom_histogram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2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geom_density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2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geom_boxplot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2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geom_line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2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geom_bar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2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geom_point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6924404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9E889-6A15-7171-F1E1-ADACB616B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 – </a:t>
            </a:r>
            <a:r>
              <a:rPr lang="en-US" dirty="0" err="1"/>
              <a:t>ggplot</a:t>
            </a:r>
            <a:r>
              <a:rPr lang="en-US" dirty="0"/>
              <a:t>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3C9DCF-93E5-3A96-840D-764A4117A0A5}"/>
              </a:ext>
            </a:extLst>
          </p:cNvPr>
          <p:cNvSpPr txBox="1"/>
          <p:nvPr/>
        </p:nvSpPr>
        <p:spPr>
          <a:xfrm>
            <a:off x="731520" y="1953491"/>
            <a:ext cx="971757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Facets (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facet_wrap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facet_grid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Splitting data into subplots based on a variable.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facet_wrap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(~ Variable1)</a:t>
            </a:r>
          </a:p>
          <a:p>
            <a:pPr lvl="2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facet_grid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(Variable1 ~ Variable2)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6047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9E889-6A15-7171-F1E1-ADACB616B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 – </a:t>
            </a:r>
            <a:r>
              <a:rPr lang="en-US" dirty="0" err="1"/>
              <a:t>ggplot</a:t>
            </a:r>
            <a:r>
              <a:rPr lang="en-US" dirty="0"/>
              <a:t>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3C9DCF-93E5-3A96-840D-764A4117A0A5}"/>
              </a:ext>
            </a:extLst>
          </p:cNvPr>
          <p:cNvSpPr txBox="1"/>
          <p:nvPr/>
        </p:nvSpPr>
        <p:spPr>
          <a:xfrm>
            <a:off x="731520" y="1953491"/>
            <a:ext cx="971757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Controlling the overall appearance of the plot.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theme_gray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2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theme_bw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2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theme_minimal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2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theme_void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3661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9E889-6A15-7171-F1E1-ADACB616B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 – </a:t>
            </a:r>
            <a:r>
              <a:rPr lang="en-US" dirty="0" err="1"/>
              <a:t>ggplot</a:t>
            </a:r>
            <a:r>
              <a:rPr lang="en-US" dirty="0"/>
              <a:t>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3C9DCF-93E5-3A96-840D-764A4117A0A5}"/>
              </a:ext>
            </a:extLst>
          </p:cNvPr>
          <p:cNvSpPr txBox="1"/>
          <p:nvPr/>
        </p:nvSpPr>
        <p:spPr>
          <a:xfrm>
            <a:off x="731520" y="1953491"/>
            <a:ext cx="971757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ons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coord_flip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1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geom_smooth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(method = "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lm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se = FALSE)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geom_smooth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(method = "loess", se = TRUE)</a:t>
            </a:r>
          </a:p>
          <a:p>
            <a:pPr lvl="1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scale_fill_manual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(values = c("red", "green", "blue"))</a:t>
            </a:r>
          </a:p>
          <a:p>
            <a:pPr lvl="1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scale_color_manual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(values = c("red", "green", "blue"))</a:t>
            </a:r>
          </a:p>
          <a:p>
            <a:pPr lvl="1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labs()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8853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9E889-6A15-7171-F1E1-ADACB616B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loops &amp; If/Else Statements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3C9DCF-93E5-3A96-840D-764A4117A0A5}"/>
              </a:ext>
            </a:extLst>
          </p:cNvPr>
          <p:cNvSpPr txBox="1"/>
          <p:nvPr/>
        </p:nvSpPr>
        <p:spPr>
          <a:xfrm>
            <a:off x="705641" y="1690688"/>
            <a:ext cx="971757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Lucida Console" panose="020B0609040504020204" pitchFamily="49" charset="0"/>
              </a:rPr>
              <a:t>x&lt;-NA</a:t>
            </a:r>
          </a:p>
          <a:p>
            <a:r>
              <a:rPr lang="en-US" sz="2000" dirty="0">
                <a:latin typeface="Lucida Console" panose="020B0609040504020204" pitchFamily="49" charset="0"/>
              </a:rPr>
              <a:t>y&lt;-NA</a:t>
            </a:r>
          </a:p>
          <a:p>
            <a:endParaRPr lang="en-US" sz="2000" dirty="0">
              <a:latin typeface="Lucida Console" panose="020B0609040504020204" pitchFamily="49" charset="0"/>
            </a:endParaRPr>
          </a:p>
          <a:p>
            <a:r>
              <a:rPr lang="en-US" sz="2000" dirty="0">
                <a:latin typeface="Lucida Console" panose="020B0609040504020204" pitchFamily="49" charset="0"/>
              </a:rPr>
              <a:t>for (</a:t>
            </a:r>
            <a:r>
              <a:rPr lang="en-US" sz="2000" dirty="0" err="1">
                <a:latin typeface="Lucida Console" panose="020B0609040504020204" pitchFamily="49" charset="0"/>
              </a:rPr>
              <a:t>i</a:t>
            </a:r>
            <a:r>
              <a:rPr lang="en-US" sz="2000" dirty="0">
                <a:latin typeface="Lucida Console" panose="020B0609040504020204" pitchFamily="49" charset="0"/>
              </a:rPr>
              <a:t> in 1:5) {  </a:t>
            </a:r>
          </a:p>
          <a:p>
            <a:r>
              <a:rPr lang="en-US" sz="2000" dirty="0">
                <a:latin typeface="Lucida Console" panose="020B0609040504020204" pitchFamily="49" charset="0"/>
              </a:rPr>
              <a:t>	y[</a:t>
            </a:r>
            <a:r>
              <a:rPr lang="en-US" sz="2000" dirty="0" err="1">
                <a:latin typeface="Lucida Console" panose="020B0609040504020204" pitchFamily="49" charset="0"/>
              </a:rPr>
              <a:t>i</a:t>
            </a:r>
            <a:r>
              <a:rPr lang="en-US" sz="2000" dirty="0">
                <a:latin typeface="Lucida Console" panose="020B0609040504020204" pitchFamily="49" charset="0"/>
              </a:rPr>
              <a:t>] &lt;- 1+i  </a:t>
            </a:r>
          </a:p>
          <a:p>
            <a:r>
              <a:rPr lang="en-US" sz="2000" dirty="0">
                <a:latin typeface="Lucida Console" panose="020B0609040504020204" pitchFamily="49" charset="0"/>
              </a:rPr>
              <a:t>	</a:t>
            </a:r>
          </a:p>
          <a:p>
            <a:r>
              <a:rPr lang="en-US" sz="2000" dirty="0">
                <a:solidFill>
                  <a:schemeClr val="accent1"/>
                </a:solidFill>
                <a:latin typeface="Lucida Console" panose="020B0609040504020204" pitchFamily="49" charset="0"/>
              </a:rPr>
              <a:t>	if (y[</a:t>
            </a:r>
            <a:r>
              <a:rPr lang="en-US" sz="2000" dirty="0" err="1">
                <a:solidFill>
                  <a:schemeClr val="accent1"/>
                </a:solidFill>
                <a:latin typeface="Lucida Console" panose="020B06090405040202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Lucida Console" panose="020B0609040504020204" pitchFamily="49" charset="0"/>
              </a:rPr>
              <a:t>]&gt;3) {   </a:t>
            </a:r>
          </a:p>
          <a:p>
            <a:r>
              <a:rPr lang="en-US" sz="2000" dirty="0">
                <a:solidFill>
                  <a:schemeClr val="accent1"/>
                </a:solidFill>
                <a:latin typeface="Lucida Console" panose="020B0609040504020204" pitchFamily="49" charset="0"/>
              </a:rPr>
              <a:t> 		x[</a:t>
            </a:r>
            <a:r>
              <a:rPr lang="en-US" sz="2000" dirty="0" err="1">
                <a:solidFill>
                  <a:schemeClr val="accent1"/>
                </a:solidFill>
                <a:latin typeface="Lucida Console" panose="020B06090405040202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Lucida Console" panose="020B0609040504020204" pitchFamily="49" charset="0"/>
              </a:rPr>
              <a:t>] &lt;- "Yes"  </a:t>
            </a:r>
          </a:p>
          <a:p>
            <a:r>
              <a:rPr lang="en-US" sz="2000" dirty="0">
                <a:solidFill>
                  <a:schemeClr val="accent1"/>
                </a:solidFill>
                <a:latin typeface="Lucida Console" panose="020B0609040504020204" pitchFamily="49" charset="0"/>
              </a:rPr>
              <a:t>	}else if (y[</a:t>
            </a:r>
            <a:r>
              <a:rPr lang="en-US" sz="2000" dirty="0" err="1">
                <a:solidFill>
                  <a:schemeClr val="accent1"/>
                </a:solidFill>
                <a:latin typeface="Lucida Console" panose="020B06090405040202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Lucida Console" panose="020B0609040504020204" pitchFamily="49" charset="0"/>
              </a:rPr>
              <a:t>]&lt;3){ </a:t>
            </a:r>
          </a:p>
          <a:p>
            <a:r>
              <a:rPr lang="en-US" sz="2000" dirty="0">
                <a:solidFill>
                  <a:schemeClr val="accent1"/>
                </a:solidFill>
                <a:latin typeface="Lucida Console" panose="020B0609040504020204" pitchFamily="49" charset="0"/>
              </a:rPr>
              <a:t>   		x[</a:t>
            </a:r>
            <a:r>
              <a:rPr lang="en-US" sz="2000" dirty="0" err="1">
                <a:solidFill>
                  <a:schemeClr val="accent1"/>
                </a:solidFill>
                <a:latin typeface="Lucida Console" panose="020B06090405040202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Lucida Console" panose="020B0609040504020204" pitchFamily="49" charset="0"/>
              </a:rPr>
              <a:t>] &lt;- "No"  </a:t>
            </a:r>
          </a:p>
          <a:p>
            <a:r>
              <a:rPr lang="en-US" sz="2000" dirty="0">
                <a:solidFill>
                  <a:schemeClr val="accent1"/>
                </a:solidFill>
                <a:latin typeface="Lucida Console" panose="020B0609040504020204" pitchFamily="49" charset="0"/>
              </a:rPr>
              <a:t>	}else{ </a:t>
            </a:r>
          </a:p>
          <a:p>
            <a:r>
              <a:rPr lang="en-US" sz="2000" dirty="0">
                <a:solidFill>
                  <a:schemeClr val="accent1"/>
                </a:solidFill>
                <a:latin typeface="Lucida Console" panose="020B0609040504020204" pitchFamily="49" charset="0"/>
              </a:rPr>
              <a:t>   		x[</a:t>
            </a:r>
            <a:r>
              <a:rPr lang="en-US" sz="2000" dirty="0" err="1">
                <a:solidFill>
                  <a:schemeClr val="accent1"/>
                </a:solidFill>
                <a:latin typeface="Lucida Console" panose="020B0609040504020204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Lucida Console" panose="020B0609040504020204" pitchFamily="49" charset="0"/>
              </a:rPr>
              <a:t>]&lt;-"Maybe"  </a:t>
            </a:r>
          </a:p>
          <a:p>
            <a:r>
              <a:rPr lang="en-US" sz="2000" dirty="0">
                <a:solidFill>
                  <a:schemeClr val="accent1"/>
                </a:solidFill>
                <a:latin typeface="Lucida Console" panose="020B0609040504020204" pitchFamily="49" charset="0"/>
              </a:rPr>
              <a:t>	}</a:t>
            </a:r>
          </a:p>
          <a:p>
            <a:r>
              <a:rPr lang="en-US" sz="20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2000" dirty="0">
                <a:latin typeface="Lucida Console" panose="020B0609040504020204" pitchFamily="49" charset="0"/>
              </a:rPr>
              <a:t>y</a:t>
            </a:r>
          </a:p>
          <a:p>
            <a:r>
              <a:rPr lang="en-US" sz="2000" dirty="0">
                <a:latin typeface="Lucida Console" panose="020B0609040504020204" pitchFamily="49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4132684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9E889-6A15-7171-F1E1-ADACB616B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3C9DCF-93E5-3A96-840D-764A4117A0A5}"/>
              </a:ext>
            </a:extLst>
          </p:cNvPr>
          <p:cNvSpPr txBox="1"/>
          <p:nvPr/>
        </p:nvSpPr>
        <p:spPr>
          <a:xfrm>
            <a:off x="705641" y="1690688"/>
            <a:ext cx="971757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Lucida Console" panose="020B0609040504020204" pitchFamily="49" charset="0"/>
              </a:rPr>
              <a:t>circumference &lt;- function(r){  </a:t>
            </a:r>
          </a:p>
          <a:p>
            <a:pPr lvl="1"/>
            <a:r>
              <a:rPr lang="en-US" sz="3000" dirty="0">
                <a:latin typeface="Lucida Console" panose="020B0609040504020204" pitchFamily="49" charset="0"/>
              </a:rPr>
              <a:t>c = 2*pi*r  </a:t>
            </a:r>
          </a:p>
          <a:p>
            <a:pPr lvl="1"/>
            <a:r>
              <a:rPr lang="en-US" sz="3000" dirty="0">
                <a:latin typeface="Lucida Console" panose="020B0609040504020204" pitchFamily="49" charset="0"/>
              </a:rPr>
              <a:t>return(c)</a:t>
            </a:r>
          </a:p>
          <a:p>
            <a:r>
              <a:rPr lang="en-US" sz="3000" dirty="0">
                <a:latin typeface="Lucida Console" panose="020B0609040504020204" pitchFamily="49" charset="0"/>
              </a:rPr>
              <a:t>}</a:t>
            </a:r>
          </a:p>
          <a:p>
            <a:endParaRPr lang="en-US" sz="3000" dirty="0">
              <a:latin typeface="Lucida Console" panose="020B0609040504020204" pitchFamily="49" charset="0"/>
            </a:endParaRPr>
          </a:p>
          <a:p>
            <a:endParaRPr lang="en-US" sz="3000" dirty="0">
              <a:latin typeface="Lucida Console" panose="020B0609040504020204" pitchFamily="49" charset="0"/>
            </a:endParaRPr>
          </a:p>
          <a:p>
            <a:r>
              <a:rPr lang="en-US" sz="3000" dirty="0">
                <a:latin typeface="Lucida Console" panose="020B0609040504020204" pitchFamily="49" charset="0"/>
              </a:rPr>
              <a:t>circumference(5)</a:t>
            </a:r>
          </a:p>
          <a:p>
            <a:r>
              <a:rPr lang="en-US" sz="3000" dirty="0">
                <a:latin typeface="Lucida Console" panose="020B0609040504020204" pitchFamily="49" charset="0"/>
              </a:rPr>
              <a:t>circumference(r = 5)</a:t>
            </a:r>
          </a:p>
          <a:p>
            <a:endParaRPr lang="en-US" sz="30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814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1273</Words>
  <Application>Microsoft Office PowerPoint</Application>
  <PresentationFormat>Widescreen</PresentationFormat>
  <Paragraphs>171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Lucida Console</vt:lpstr>
      <vt:lpstr>Times New Roman</vt:lpstr>
      <vt:lpstr>Office Theme</vt:lpstr>
      <vt:lpstr>PowerPoint Presentation</vt:lpstr>
      <vt:lpstr>Data Wrangling – select()</vt:lpstr>
      <vt:lpstr>PowerPoint Presentation</vt:lpstr>
      <vt:lpstr>Data Wrangling – filter()</vt:lpstr>
      <vt:lpstr>PowerPoint Presentation</vt:lpstr>
      <vt:lpstr>Data Wrangling – mutate()</vt:lpstr>
      <vt:lpstr>PowerPoint Presentation</vt:lpstr>
      <vt:lpstr>Data Wrangling – summarise() &amp; group_by</vt:lpstr>
      <vt:lpstr>PowerPoint Presentation</vt:lpstr>
      <vt:lpstr>Data Wrangling – arrange()</vt:lpstr>
      <vt:lpstr>PowerPoint Presentation</vt:lpstr>
      <vt:lpstr>Data Wrangling – count()</vt:lpstr>
      <vt:lpstr>PowerPoint Presentation</vt:lpstr>
      <vt:lpstr>Joining Datasets</vt:lpstr>
      <vt:lpstr>Joining Datasets – inner_join()</vt:lpstr>
      <vt:lpstr>Joining Datasets – left_join()</vt:lpstr>
      <vt:lpstr>Joining Datasets – right_join()</vt:lpstr>
      <vt:lpstr>Joining Datasets – full_join()</vt:lpstr>
      <vt:lpstr>PowerPoint Presentation</vt:lpstr>
      <vt:lpstr>Data Visualization – ggplot()</vt:lpstr>
      <vt:lpstr>Data Visualization – ggplot()</vt:lpstr>
      <vt:lpstr>Data Visualization – ggplot()</vt:lpstr>
      <vt:lpstr>Data Visualization – ggplot()</vt:lpstr>
      <vt:lpstr>Data Visualization – ggplot()</vt:lpstr>
      <vt:lpstr>For loops &amp; If/Else Statements</vt:lpstr>
      <vt:lpstr>Functions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Abdalla Mukhaimer, Widad</dc:creator>
  <cp:lastModifiedBy>Abdalla Mukhaimer, Widad</cp:lastModifiedBy>
  <cp:revision>3</cp:revision>
  <dcterms:created xsi:type="dcterms:W3CDTF">2024-02-28T03:09:52Z</dcterms:created>
  <dcterms:modified xsi:type="dcterms:W3CDTF">2024-02-28T19:35:12Z</dcterms:modified>
</cp:coreProperties>
</file>