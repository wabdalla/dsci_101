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8" r:id="rId4"/>
    <p:sldId id="258" r:id="rId5"/>
    <p:sldId id="279" r:id="rId6"/>
    <p:sldId id="259" r:id="rId7"/>
    <p:sldId id="271" r:id="rId8"/>
    <p:sldId id="280" r:id="rId9"/>
    <p:sldId id="260" r:id="rId10"/>
    <p:sldId id="281" r:id="rId11"/>
    <p:sldId id="261" r:id="rId12"/>
    <p:sldId id="272" r:id="rId13"/>
    <p:sldId id="273" r:id="rId14"/>
    <p:sldId id="274" r:id="rId15"/>
    <p:sldId id="262" r:id="rId16"/>
    <p:sldId id="263" r:id="rId17"/>
    <p:sldId id="264" r:id="rId18"/>
    <p:sldId id="275" r:id="rId19"/>
    <p:sldId id="265" r:id="rId20"/>
    <p:sldId id="276" r:id="rId21"/>
    <p:sldId id="26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ABCE2-5EAA-341D-B287-16F65969C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F62596-7499-4A15-8476-2E128308F6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BE05C-CC92-737D-2C3E-A490474D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E11A0-33E5-0384-25E3-5D0B8937C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A954F-286A-5395-3450-7ACF46CE1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251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AA4D2-FE76-AD58-0707-2376D55D4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079D5-614C-B2DC-406F-525F844D5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CD654-E0C4-24B3-4FE7-39C9A45C9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70730-91E4-1FED-0965-F0640C130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42A92-C9D0-3223-E0D7-75F416BD2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464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5D7D5-8111-1377-0850-E4DBB907C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BF9DE-FDED-EFCF-DF3D-210ED5420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E8783-C276-5A2E-62DA-66C205E33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B819E-3459-D184-7171-A8D545A0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2EE9F-058D-6AAA-EAB6-95EC90039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397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C2419-3DC6-E966-BC68-9D6651DA7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D944F-A179-3381-DE9D-4AFD3D3A42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BE02F2-5A8D-0A96-6208-BAD68A441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7ED03-9FA7-18AD-7AEC-B8E8F70B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4616ED-DC7C-3DB2-645B-D9AEC52D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E00FC-E702-6E79-65A6-AD22126D8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787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74749-FA30-E5AB-3817-D85726024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A57EF-5044-BF3D-8DB1-E71617E5A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1B04B3-A1FB-FB10-CBB7-19547789ED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F5A318-64F8-DDCC-ED86-7FAB53D938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432DD-3A7E-129F-08FB-19AEECC55C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9809B6-52DB-9ADC-9744-FD4B67060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73EAC5-8B66-4A70-ABBA-495778913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FBA69D-9848-DFAF-0C95-73F995EA2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81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E6896-7DA2-7ABD-7334-006436F75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9B4A9-F42E-7FB1-DE96-6E4C1EF97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7FC3E5-4AD6-3134-38A1-B7D357569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3A9435-183E-6410-B3A4-3511C877A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16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1DA27E-9C6A-D1EB-2FEF-B06DF6B33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6AA566-E4BE-53D3-D085-9B03007CF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5A1A61-00C6-CE16-5834-7A5802602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763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D6D2D-15F7-60AD-15D5-87B5DAE2A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587D1-A7CB-71F8-1121-038C6B6AE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CC3335-FE7D-F6F9-527F-2E63F021E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DFE721-D4C9-A8F4-613C-2080ED8A4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4FD10-F162-08C1-FEC7-5F1206540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3A1F6-A5C3-E0F7-BA78-5AD1CEB46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369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39AE3-50DA-CED6-4B8F-DF79D868B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DEBEDB-BE52-A8BB-BA13-E9273BD2A1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E33B94-5383-AFFA-86EA-D680945E9A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039DF1-B5B4-7ADC-3B72-2DE58E6A6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97D876-43D9-0797-045A-25C405D7B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DE8222-EEE4-02CC-373C-512BEFA1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444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EE998-09FD-9BA2-38D9-45BF3CC45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76C5B-1DC3-6099-44A8-41C3B2C4D9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C4EBB-C5CC-5774-F15B-FE429E102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9F9F4-2EF4-AD3E-104C-AD2B95CAD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673E2-315E-1DF3-8767-9034BC05C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193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44CC48-7399-8CCC-0CC0-06A99DEA74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243295-780E-7352-D5F1-3FC9ACA11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4623B-2E8D-BFC0-A5B6-E2AEADE24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6F9D8-E296-6216-ED79-3B7A67EF9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31819-6F2E-8E4E-0185-5C7C1AB20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214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98D9FD-43ED-AE24-1112-DA6BE6A5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84978-ED41-8C7C-CB00-DBA819202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2DD31-F459-AFE0-A3B2-69CA3C02CF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0AEF5-DD8A-4250-86F8-15AEBE73A4D5}" type="datetimeFigureOut">
              <a:rPr lang="en-US" smtClean="0"/>
              <a:t>8/27/2024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0B0BA-7374-3C07-4E42-E5F279FC6D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1F6CC-650E-9631-CDA6-8B142657E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325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DE3B64-432C-802E-F8EF-A9F7B0F3A1CE}"/>
              </a:ext>
            </a:extLst>
          </p:cNvPr>
          <p:cNvSpPr txBox="1"/>
          <p:nvPr/>
        </p:nvSpPr>
        <p:spPr>
          <a:xfrm>
            <a:off x="3047223" y="2210318"/>
            <a:ext cx="6097554" cy="2148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Coding Basics</a:t>
            </a:r>
            <a:endParaRPr lang="en-US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Part 1</a:t>
            </a:r>
            <a:endParaRPr lang="en-US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717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42426E-EE2D-DDB2-4251-E2D75AC9E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34" y="927077"/>
            <a:ext cx="11193011" cy="58419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A39DE1-500E-27DA-06C7-29795BDA4E8E}"/>
              </a:ext>
            </a:extLst>
          </p:cNvPr>
          <p:cNvSpPr txBox="1"/>
          <p:nvPr/>
        </p:nvSpPr>
        <p:spPr>
          <a:xfrm>
            <a:off x="567655" y="171677"/>
            <a:ext cx="11056690" cy="755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 &amp; RStudio - Basic Components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76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42426E-EE2D-DDB2-4251-E2D75AC9E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9" y="258430"/>
            <a:ext cx="11532065" cy="6341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270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B130B1-05A2-3326-C8A3-83136BA061AA}"/>
              </a:ext>
            </a:extLst>
          </p:cNvPr>
          <p:cNvSpPr txBox="1"/>
          <p:nvPr/>
        </p:nvSpPr>
        <p:spPr>
          <a:xfrm>
            <a:off x="513826" y="962921"/>
            <a:ext cx="5937308" cy="430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Console Window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located in the bottom left.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It’s where you often will find the output of your coding and computations. 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is also possible to write code directly into the console. 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9CD75D-B759-D94F-F8D0-040A795F7D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4886" r="46168"/>
          <a:stretch/>
        </p:blipFill>
        <p:spPr>
          <a:xfrm>
            <a:off x="6568580" y="1468230"/>
            <a:ext cx="5358767" cy="272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2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42426E-EE2D-DDB2-4251-E2D75AC9E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9" y="258430"/>
            <a:ext cx="11532065" cy="6341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071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9859C2-1DEE-8D2D-C8E0-CE088DD6E28E}"/>
              </a:ext>
            </a:extLst>
          </p:cNvPr>
          <p:cNvSpPr txBox="1"/>
          <p:nvPr/>
        </p:nvSpPr>
        <p:spPr>
          <a:xfrm>
            <a:off x="425398" y="477722"/>
            <a:ext cx="5770129" cy="5701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Source Window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Located in the top left. </a:t>
            </a:r>
            <a:endParaRPr lang="en-US" sz="3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“Source” can be understood as any type of file. </a:t>
            </a:r>
            <a:endParaRPr lang="en-US" sz="3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Function of the source window include:</a:t>
            </a:r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Inspect data in an Excel-like format.</a:t>
            </a:r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Open programming code and code editing.</a:t>
            </a:r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Run the analysis you have written.</a:t>
            </a:r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D0BEB2-3B40-4066-D310-F2E448D79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935" y="1436481"/>
            <a:ext cx="5896946" cy="3784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779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9859C2-1DEE-8D2D-C8E0-CE088DD6E28E}"/>
              </a:ext>
            </a:extLst>
          </p:cNvPr>
          <p:cNvSpPr txBox="1"/>
          <p:nvPr/>
        </p:nvSpPr>
        <p:spPr>
          <a:xfrm>
            <a:off x="425398" y="578219"/>
            <a:ext cx="5770129" cy="5701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Source Window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Located in the top left. </a:t>
            </a:r>
            <a:endParaRPr lang="en-US" sz="3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“Source” can be understood as any type of file. </a:t>
            </a:r>
            <a:endParaRPr lang="en-US" sz="3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Function of the source window include:</a:t>
            </a:r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Inspect data in an Excel-like format.</a:t>
            </a:r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Open programming code and code editing.</a:t>
            </a:r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Run the analysis you have written.</a:t>
            </a:r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FCADEF-E892-C901-DF4D-26761D48B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8495" y="1106555"/>
            <a:ext cx="6236192" cy="4342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982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42426E-EE2D-DDB2-4251-E2D75AC9E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9" y="258430"/>
            <a:ext cx="11532065" cy="6341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145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AC33FF-4D6E-6336-53CA-DB8282FC5C95}"/>
              </a:ext>
            </a:extLst>
          </p:cNvPr>
          <p:cNvSpPr txBox="1"/>
          <p:nvPr/>
        </p:nvSpPr>
        <p:spPr>
          <a:xfrm>
            <a:off x="320879" y="317668"/>
            <a:ext cx="10333139" cy="6429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Environment/History/Connections/Tutorial Window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Located in the top-right.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Shows multiples panes, but the most important one is “Environment”.   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Environment: shows you objects which are available for computation. Some examples of objects include: 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15000"/>
              </a:lnSpc>
              <a:buFont typeface="Wingdings" panose="05000000000000000000" pitchFamily="2" charset="2"/>
              <a:buChar char=""/>
            </a:pPr>
            <a:r>
              <a:rPr lang="en-US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Dataset  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15000"/>
              </a:lnSpc>
              <a:buFont typeface="Wingdings" panose="05000000000000000000" pitchFamily="2" charset="2"/>
              <a:buChar char=""/>
            </a:pPr>
            <a:r>
              <a:rPr lang="en-US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Vectors 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15000"/>
              </a:lnSpc>
              <a:buFont typeface="Wingdings" panose="05000000000000000000" pitchFamily="2" charset="2"/>
              <a:buChar char=""/>
            </a:pPr>
            <a:r>
              <a:rPr lang="en-US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Matrices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15000"/>
              </a:lnSpc>
              <a:buFont typeface="Wingdings" panose="05000000000000000000" pitchFamily="2" charset="2"/>
              <a:buChar char=""/>
            </a:pPr>
            <a:r>
              <a:rPr lang="en-US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Lists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15000"/>
              </a:lnSpc>
              <a:buFont typeface="Wingdings" panose="05000000000000000000" pitchFamily="2" charset="2"/>
              <a:buChar char=""/>
            </a:pPr>
            <a:r>
              <a:rPr lang="en-US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Functions you create yourself.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C98A02-73FF-AA7B-7D15-A232E0EFE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929" y="4084870"/>
            <a:ext cx="5543550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702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42426E-EE2D-DDB2-4251-E2D75AC9E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9" y="258430"/>
            <a:ext cx="11532065" cy="6341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88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A3F995-C32B-17A9-3A93-D71D99DD1ADB}"/>
              </a:ext>
            </a:extLst>
          </p:cNvPr>
          <p:cNvSpPr txBox="1"/>
          <p:nvPr/>
        </p:nvSpPr>
        <p:spPr>
          <a:xfrm>
            <a:off x="469783" y="518782"/>
            <a:ext cx="6229597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Files/Plots/Packages/Help/Viewer Window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Located in the bottom-right.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12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 consists of five essential panes:</a:t>
            </a:r>
          </a:p>
          <a:p>
            <a:pPr marL="342900" marR="0" lvl="0" indent="-342900">
              <a:spcBef>
                <a:spcPts val="0"/>
              </a:spcBef>
              <a:spcAft>
                <a:spcPts val="12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"/>
            </a:pPr>
            <a:r>
              <a:rPr lang="en-US" sz="30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Files pane:</a:t>
            </a:r>
            <a:r>
              <a:rPr lang="en-US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lists all the files and folders in your root directory. </a:t>
            </a:r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5FC3F4-BDB4-8C85-B9FF-AD84B43AC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0507" y="1909762"/>
            <a:ext cx="5514975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58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670847-B036-2368-6F7E-A47909BC4159}"/>
              </a:ext>
            </a:extLst>
          </p:cNvPr>
          <p:cNvSpPr txBox="1"/>
          <p:nvPr/>
        </p:nvSpPr>
        <p:spPr>
          <a:xfrm>
            <a:off x="220125" y="437295"/>
            <a:ext cx="609460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"/>
            </a:pPr>
            <a:r>
              <a:rPr lang="en-US" sz="30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Plots pane:</a:t>
            </a:r>
            <a:r>
              <a:rPr lang="en-US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This pane is exclusively designed to show you any plots you have created using R.</a:t>
            </a:r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US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delete a plot, you can click on the red circle with a white x symbol. </a:t>
            </a:r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US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remove all plots, you can use the broom. </a:t>
            </a:r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US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There are options to export your plot and move back and forth between different plots. </a:t>
            </a:r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051E1B-8E69-FF9C-3288-B3FAD734D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725" y="873384"/>
            <a:ext cx="5534025" cy="53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738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575521-F6BD-3524-EE7A-91F5F59B7D57}"/>
              </a:ext>
            </a:extLst>
          </p:cNvPr>
          <p:cNvSpPr txBox="1"/>
          <p:nvPr/>
        </p:nvSpPr>
        <p:spPr>
          <a:xfrm>
            <a:off x="0" y="280176"/>
            <a:ext cx="6558351" cy="6432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"/>
            </a:pPr>
            <a:r>
              <a:rPr lang="en-US" sz="28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Packages: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they are additional tools you can import and use when performing your analysis. 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0" lvl="1" indent="-285750" algn="just">
              <a:spcBef>
                <a:spcPts val="0"/>
              </a:spcBef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frequent analogy people use to explain packages is your phone and the apps you install. Each package you download is equivalent to an app on your phone. 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0" lvl="1" indent="-285750" algn="just">
              <a:spcBef>
                <a:spcPts val="0"/>
              </a:spcBef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 can enhance different aspects of working in R, such as creating animated plots, or simply making your life easier by doing multiple computations with just one single line of code.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2B8ADE-A01D-0501-5A02-6AC44DA72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630" y="668550"/>
            <a:ext cx="5438775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073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8A01B8-23F0-FB6F-D280-AAC410DBE875}"/>
              </a:ext>
            </a:extLst>
          </p:cNvPr>
          <p:cNvSpPr txBox="1"/>
          <p:nvPr/>
        </p:nvSpPr>
        <p:spPr>
          <a:xfrm>
            <a:off x="387991" y="1153297"/>
            <a:ext cx="6094602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"/>
            </a:pPr>
            <a:r>
              <a:rPr lang="en-US" sz="30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Help pane:</a:t>
            </a:r>
            <a:r>
              <a:rPr lang="en-US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you can search for specific topics, for example how certain computation works. The Help pane also had 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documentation on different datasets that are included in R, </a:t>
            </a:r>
            <a:r>
              <a:rPr lang="en-US" sz="3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Rstudio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or R packages you have installed.</a:t>
            </a:r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B9984F-91DF-BD8B-6316-ED9B0A22F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5732" y="671512"/>
            <a:ext cx="5524500" cy="551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9549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7D3FA0-93F9-6E77-D9F7-E643417A7447}"/>
              </a:ext>
            </a:extLst>
          </p:cNvPr>
          <p:cNvSpPr txBox="1"/>
          <p:nvPr/>
        </p:nvSpPr>
        <p:spPr>
          <a:xfrm>
            <a:off x="773883" y="912237"/>
            <a:ext cx="9041235" cy="1651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Customize your Interface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 to Tools &gt; Global Options &gt; Appearance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655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CB7662-4431-5F32-9426-F72BF27E9B98}"/>
              </a:ext>
            </a:extLst>
          </p:cNvPr>
          <p:cNvSpPr txBox="1"/>
          <p:nvPr/>
        </p:nvSpPr>
        <p:spPr>
          <a:xfrm>
            <a:off x="447062" y="166450"/>
            <a:ext cx="11297875" cy="6171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Packages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Many of R’s most useful functions do not come preloaded when you start R, but reside in packages that can be installed on top of R. 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 R package bundles together useful functions, help files, and data sets. 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 can use these functions within your own R code once you load the package they live in. 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 only need to install a package once in your computer.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lnSpc>
                <a:spcPts val="1920"/>
              </a:lnSpc>
              <a:spcBef>
                <a:spcPts val="0"/>
              </a:spcBef>
              <a:spcAft>
                <a:spcPts val="1200"/>
              </a:spcAft>
            </a:pPr>
            <a:endParaRPr lang="en-US" sz="2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lnSpc>
                <a:spcPts val="192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code: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lnSpc>
                <a:spcPts val="192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42900" marR="0" lvl="0" indent="-342900" algn="just">
              <a:lnSpc>
                <a:spcPts val="192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 need to load the package every time you open R. 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lnSpc>
                <a:spcPts val="1920"/>
              </a:lnSpc>
              <a:spcBef>
                <a:spcPts val="0"/>
              </a:spcBef>
              <a:spcAft>
                <a:spcPts val="1200"/>
              </a:spcAft>
            </a:pPr>
            <a:endParaRPr lang="en-US" sz="2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lnSpc>
                <a:spcPts val="192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code: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26281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5AA488-9975-E72D-2DE9-4A0BE866C83C}"/>
              </a:ext>
            </a:extLst>
          </p:cNvPr>
          <p:cNvSpPr txBox="1"/>
          <p:nvPr/>
        </p:nvSpPr>
        <p:spPr>
          <a:xfrm>
            <a:off x="612397" y="83475"/>
            <a:ext cx="10981188" cy="639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File Types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 Script 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buFont typeface="Wingdings" panose="05000000000000000000" pitchFamily="2" charset="2"/>
              <a:buChar char=""/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Extension: .R 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buFont typeface="Wingdings" panose="05000000000000000000" pitchFamily="2" charset="2"/>
              <a:buChar char=""/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is a file you can write your codes in it.</a:t>
            </a:r>
          </a:p>
          <a:p>
            <a:pPr lvl="1">
              <a:lnSpc>
                <a:spcPct val="115000"/>
              </a:lnSpc>
            </a:pP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RMarkdown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Script 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buFont typeface="Wingdings" panose="05000000000000000000" pitchFamily="2" charset="2"/>
              <a:buChar char=""/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Extension: .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Rmd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buFont typeface="Wingdings" panose="05000000000000000000" pitchFamily="2" charset="2"/>
              <a:buChar char=""/>
            </a:pPr>
            <a:r>
              <a:rPr lang="en-US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Incorporates code and texts together to </a:t>
            </a:r>
            <a:r>
              <a:rPr lang="en-US" sz="30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knit</a:t>
            </a:r>
            <a:r>
              <a:rPr lang="en-US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a document together. 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buFont typeface="Wingdings" panose="05000000000000000000" pitchFamily="2" charset="2"/>
              <a:buChar char=""/>
            </a:pPr>
            <a:r>
              <a:rPr lang="en-US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Knitting an </a:t>
            </a:r>
            <a:r>
              <a:rPr lang="en-US" sz="3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rmd</a:t>
            </a:r>
            <a:r>
              <a:rPr lang="en-US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file compiles the text and code together to create another file such as an .html or .pdf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30976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5AA488-9975-E72D-2DE9-4A0BE866C83C}"/>
              </a:ext>
            </a:extLst>
          </p:cNvPr>
          <p:cNvSpPr txBox="1"/>
          <p:nvPr/>
        </p:nvSpPr>
        <p:spPr>
          <a:xfrm>
            <a:off x="612397" y="83475"/>
            <a:ext cx="10981188" cy="4801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File Types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 Project 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15000"/>
              </a:lnSpc>
              <a:buFont typeface="Wingdings" panose="05000000000000000000" pitchFamily="2" charset="2"/>
              <a:buChar char=""/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Extension: .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Rproj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15000"/>
              </a:lnSpc>
              <a:buFont typeface="Wingdings" panose="05000000000000000000" pitchFamily="2" charset="2"/>
              <a:buChar char=""/>
            </a:pPr>
            <a:r>
              <a:rPr lang="en-US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Helps you organize your different coding projects. 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15000"/>
              </a:lnSpc>
              <a:buFont typeface="Wingdings" panose="05000000000000000000" pitchFamily="2" charset="2"/>
              <a:buChar char=""/>
            </a:pPr>
            <a:r>
              <a:rPr lang="en-US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working directory will automatically be set to the directory that the .</a:t>
            </a:r>
            <a:r>
              <a:rPr lang="en-US" sz="3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RProj</a:t>
            </a:r>
            <a:r>
              <a:rPr lang="en-US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file is located in allowing easier organization and access to your data and files.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350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6FE5AC-2EA7-8544-2768-C474F30BB943}"/>
              </a:ext>
            </a:extLst>
          </p:cNvPr>
          <p:cNvSpPr txBox="1"/>
          <p:nvPr/>
        </p:nvSpPr>
        <p:spPr>
          <a:xfrm>
            <a:off x="947956" y="478106"/>
            <a:ext cx="10033233" cy="6075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Structure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Structure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a specific way to organize, store, process, and retrieve your data. 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 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Vectors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Examples of vectors: 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[4, 1, 3, 8, 6, 7, 5, 3, 0, 9]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Code: 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0039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6FE5AC-2EA7-8544-2768-C474F30BB943}"/>
              </a:ext>
            </a:extLst>
          </p:cNvPr>
          <p:cNvSpPr txBox="1"/>
          <p:nvPr/>
        </p:nvSpPr>
        <p:spPr>
          <a:xfrm>
            <a:off x="914400" y="528441"/>
            <a:ext cx="10033233" cy="430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[1, 2, 3, 4, 5, 6, 7, 8, 9, 10]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Code: 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[x.1,  x.2,  x.3,  x.4,  x.5]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Code: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893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08F25A9-ADFD-A1B1-E974-CD7A5623CFD3}"/>
                  </a:ext>
                </a:extLst>
              </p:cNvPr>
              <p:cNvSpPr txBox="1"/>
              <p:nvPr/>
            </p:nvSpPr>
            <p:spPr>
              <a:xfrm>
                <a:off x="799052" y="573987"/>
                <a:ext cx="6094602" cy="57100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marR="0" lvl="0" indent="-34290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en-US" sz="3000" b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Matrices</a:t>
                </a:r>
                <a:endParaRPr lang="en-US" sz="3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3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en-US" sz="3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3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Examples: </a:t>
                </a:r>
                <a:endParaRPr lang="en-US" sz="3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15000"/>
                  </a:lnSpc>
                </a:pPr>
                <a:r>
                  <a:rPr lang="en-US" sz="3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en-US" sz="3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15000"/>
                  </a:lnSpc>
                </a:pPr>
                <a:r>
                  <a:rPr lang="en-US" sz="30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   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3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3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3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3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US" sz="3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US" sz="3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US" sz="3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US" sz="3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3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3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3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en-US" sz="3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3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code:</a:t>
                </a:r>
                <a:endParaRPr lang="en-US" sz="3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3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en-US" sz="3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3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en-US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08F25A9-ADFD-A1B1-E974-CD7A5623C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052" y="573987"/>
                <a:ext cx="6094602" cy="5710025"/>
              </a:xfrm>
              <a:prstGeom prst="rect">
                <a:avLst/>
              </a:prstGeom>
              <a:blipFill>
                <a:blip r:embed="rId2"/>
                <a:stretch>
                  <a:fillRect l="-2300" t="-8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52159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08F25A9-ADFD-A1B1-E974-CD7A5623CFD3}"/>
                  </a:ext>
                </a:extLst>
              </p:cNvPr>
              <p:cNvSpPr txBox="1"/>
              <p:nvPr/>
            </p:nvSpPr>
            <p:spPr>
              <a:xfrm>
                <a:off x="799052" y="415771"/>
                <a:ext cx="6094602" cy="38341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3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en-US" sz="3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30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3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3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3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3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3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sz="3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3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3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US" sz="3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US" sz="3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US" sz="3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3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3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3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3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3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code: </a:t>
                </a:r>
                <a:endParaRPr lang="en-US" sz="3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en-US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en-US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08F25A9-ADFD-A1B1-E974-CD7A5623C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052" y="415771"/>
                <a:ext cx="6094602" cy="3834191"/>
              </a:xfrm>
              <a:prstGeom prst="rect">
                <a:avLst/>
              </a:prstGeom>
              <a:blipFill>
                <a:blip r:embed="rId2"/>
                <a:stretch>
                  <a:fillRect l="-23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2248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750</Words>
  <Application>Microsoft Office PowerPoint</Application>
  <PresentationFormat>Widescreen</PresentationFormat>
  <Paragraphs>112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Courier New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Abdalla Mukhaimer, Widad</dc:creator>
  <cp:lastModifiedBy>Abdalla Mukhaimer, Widad</cp:lastModifiedBy>
  <cp:revision>1</cp:revision>
  <dcterms:created xsi:type="dcterms:W3CDTF">2024-08-27T22:14:52Z</dcterms:created>
  <dcterms:modified xsi:type="dcterms:W3CDTF">2024-08-27T22:59:47Z</dcterms:modified>
</cp:coreProperties>
</file>