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71" r:id="rId4"/>
    <p:sldId id="279" r:id="rId5"/>
    <p:sldId id="284" r:id="rId6"/>
    <p:sldId id="285" r:id="rId7"/>
    <p:sldId id="282" r:id="rId8"/>
    <p:sldId id="286" r:id="rId9"/>
    <p:sldId id="287" r:id="rId10"/>
    <p:sldId id="288" r:id="rId11"/>
    <p:sldId id="289" r:id="rId12"/>
    <p:sldId id="290" r:id="rId13"/>
    <p:sldId id="291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42F16-4F8C-441F-B5AC-5BD6AD36882A}" v="15" dt="2024-11-08T08:31:22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521909"/>
            <a:ext cx="10578518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Simulations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C0A08-A229-B9EE-F197-4CD6A171AA83}"/>
              </a:ext>
            </a:extLst>
          </p:cNvPr>
          <p:cNvSpPr txBox="1"/>
          <p:nvPr/>
        </p:nvSpPr>
        <p:spPr>
          <a:xfrm>
            <a:off x="461553" y="505719"/>
            <a:ext cx="11460481" cy="6026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Side Note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w&lt;-c(TRUE, TRUE, FALSE)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  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class(w)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as.numeric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(w)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Changing the class of a logical vector into a numeric vector, changes the TRUE for 1 and the FALSE for 0.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8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DC173-12D0-CF70-7ECA-0C3B8EDF49F4}"/>
              </a:ext>
            </a:extLst>
          </p:cNvPr>
          <p:cNvSpPr txBox="1"/>
          <p:nvPr/>
        </p:nvSpPr>
        <p:spPr>
          <a:xfrm>
            <a:off x="805344" y="799451"/>
            <a:ext cx="10880520" cy="329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Probabilities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 Probabilities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Probabilities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64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153E72-3517-2D12-A2C9-374BACEB93EA}"/>
              </a:ext>
            </a:extLst>
          </p:cNvPr>
          <p:cNvSpPr txBox="1"/>
          <p:nvPr/>
        </p:nvSpPr>
        <p:spPr>
          <a:xfrm>
            <a:off x="542487" y="242068"/>
            <a:ext cx="11107024" cy="2907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 of Large Numbers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 of Large Numbers: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long run, as the number of trials increases and increases, the proportion of the outcomes get closer to the theoretical probability values.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740BD-9E35-B1A0-25F4-85FD16F0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87" y="3186932"/>
            <a:ext cx="1101754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2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8BB4F7-9CA1-07F6-FB73-636E28CD809B}"/>
                  </a:ext>
                </a:extLst>
              </p:cNvPr>
              <p:cNvSpPr txBox="1"/>
              <p:nvPr/>
            </p:nvSpPr>
            <p:spPr>
              <a:xfrm>
                <a:off x="574766" y="869824"/>
                <a:ext cx="11016341" cy="469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40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Experiment: Flipping a Coin</a:t>
                </a:r>
                <a:endParaRPr lang="en-US" sz="4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30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Theoretical Probability of Getting Heads: </a:t>
                </a: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0.5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30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Experimental Probability of Getting Heads: </a:t>
                </a: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need to flip the coin </a:t>
                </a:r>
                <a14:m>
                  <m:oMath xmlns:m="http://schemas.openxmlformats.org/officeDocument/2006/math">
                    <m:r>
                      <a:rPr lang="en-US" sz="3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times and see how many times you “see” heads. Divide that number by the number of flips. 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8BB4F7-9CA1-07F6-FB73-636E28CD8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6" y="869824"/>
                <a:ext cx="11016341" cy="4697440"/>
              </a:xfrm>
              <a:prstGeom prst="rect">
                <a:avLst/>
              </a:prstGeom>
              <a:blipFill>
                <a:blip r:embed="rId2"/>
                <a:stretch>
                  <a:fillRect l="-1273" t="-2338" r="-1328" b="-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68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61834F-460B-8E87-49BE-34DCBF029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51" y="521652"/>
            <a:ext cx="10896600" cy="58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A07A9E-060E-CBDC-F56E-5A005BF97624}"/>
              </a:ext>
            </a:extLst>
          </p:cNvPr>
          <p:cNvSpPr txBox="1"/>
          <p:nvPr/>
        </p:nvSpPr>
        <p:spPr>
          <a:xfrm>
            <a:off x="413657" y="823894"/>
            <a:ext cx="11364686" cy="371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Simulate One Trial (One Flip)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sample(c("H", "T"), 1)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60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AD7B7F-A91B-68BF-D940-425E623BD1F8}"/>
              </a:ext>
            </a:extLst>
          </p:cNvPr>
          <p:cNvSpPr txBox="1"/>
          <p:nvPr/>
        </p:nvSpPr>
        <p:spPr>
          <a:xfrm>
            <a:off x="535577" y="702941"/>
            <a:ext cx="11120846" cy="393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 the criteria that you are trying to compute the probability on.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Checking if that flip is "Heads" (because that is the one that you wanted to compute the probability on)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== "H"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1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98D61-0594-966B-D17E-A9F0E10B1DAE}"/>
              </a:ext>
            </a:extLst>
          </p:cNvPr>
          <p:cNvSpPr txBox="1"/>
          <p:nvPr/>
        </p:nvSpPr>
        <p:spPr>
          <a:xfrm>
            <a:off x="339634" y="436254"/>
            <a:ext cx="11425645" cy="5727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Function that performs 1 Trial and checks if it met the criteria.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our example, the function will flip the coin once and checks if it is Heads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coin_function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sample(c("H", "T"), 1)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== "H"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check_flip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435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4D0E74-D4AA-B373-5F36-B22627A2A0B9}"/>
                  </a:ext>
                </a:extLst>
              </p:cNvPr>
              <p:cNvSpPr txBox="1"/>
              <p:nvPr/>
            </p:nvSpPr>
            <p:spPr>
              <a:xfrm>
                <a:off x="548640" y="537478"/>
                <a:ext cx="11364686" cy="28471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Step 4: </a:t>
                </a: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Run the function </a:t>
                </a:r>
                <a14:m>
                  <m:oMath xmlns:m="http://schemas.openxmlformats.org/officeDocument/2006/math">
                    <m:r>
                      <a:rPr lang="en-US" sz="3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times (i.e., </a:t>
                </a: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100000 times)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Means you flip the coin </a:t>
                </a:r>
                <a14:m>
                  <m:oMath xmlns:m="http://schemas.openxmlformats.org/officeDocument/2006/math">
                    <m:r>
                      <a:rPr lang="en-US" sz="3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times (i.e., </a:t>
                </a: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10000 times) and every time you flip you record if it was a heads or not. 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kern="100" dirty="0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iterations &lt;- </a:t>
                </a:r>
                <a:r>
                  <a:rPr lang="en-US" sz="3000" kern="100" dirty="0" err="1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map_dbl</a:t>
                </a:r>
                <a:r>
                  <a:rPr lang="en-US" sz="3000" kern="100" dirty="0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(1:100000, </a:t>
                </a:r>
                <a:r>
                  <a:rPr lang="en-US" sz="3000" kern="100" dirty="0" err="1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coin_function</a:t>
                </a:r>
                <a:r>
                  <a:rPr lang="en-US" sz="3000" kern="100" dirty="0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4D0E74-D4AA-B373-5F36-B22627A2A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37478"/>
                <a:ext cx="11364686" cy="2847190"/>
              </a:xfrm>
              <a:prstGeom prst="rect">
                <a:avLst/>
              </a:prstGeom>
              <a:blipFill>
                <a:blip r:embed="rId2"/>
                <a:stretch>
                  <a:fillRect l="-1234" t="-2784" b="-5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13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E92FE0-62DF-FBB0-A48E-2636221DBCBD}"/>
                  </a:ext>
                </a:extLst>
              </p:cNvPr>
              <p:cNvSpPr txBox="1"/>
              <p:nvPr/>
            </p:nvSpPr>
            <p:spPr>
              <a:xfrm>
                <a:off x="296090" y="701850"/>
                <a:ext cx="11469189" cy="318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Step 5:</a:t>
                </a: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To get the experimental probability, sum the number of times the criteria was met, divided by the total number of trials </a:t>
                </a:r>
                <a14:m>
                  <m:oMath xmlns:m="http://schemas.openxmlformats.org/officeDocument/2006/math">
                    <m:r>
                      <a:rPr lang="en-US" sz="30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0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 the number of times you got heads and divide it by the number of times you flipped the coin. </a:t>
                </a:r>
                <a:endParaRPr lang="en-US" sz="3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2500" kern="100" dirty="0">
                  <a:solidFill>
                    <a:srgbClr val="548235"/>
                  </a:solidFill>
                  <a:effectLst/>
                  <a:latin typeface="Lucida Console" panose="020B0609040504020204" pitchFamily="49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500" kern="100" dirty="0" err="1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experimental_prob</a:t>
                </a:r>
                <a:r>
                  <a:rPr lang="en-US" sz="2500" kern="100" dirty="0">
                    <a:solidFill>
                      <a:srgbClr val="548235"/>
                    </a:solidFill>
                    <a:effectLst/>
                    <a:latin typeface="Lucida Console" panose="020B0609040504020204" pitchFamily="49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&lt;- sum(iterations)/length(iterations)</a:t>
                </a:r>
                <a:endParaRPr lang="en-US" sz="25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E92FE0-62DF-FBB0-A48E-2636221D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90" y="701850"/>
                <a:ext cx="11469189" cy="3180294"/>
              </a:xfrm>
              <a:prstGeom prst="rect">
                <a:avLst/>
              </a:prstGeom>
              <a:blipFill>
                <a:blip r:embed="rId2"/>
                <a:stretch>
                  <a:fillRect l="-1276" t="-2490" r="-638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63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5D2741-E0DA-A34C-14D9-CF51A8E67783}"/>
              </a:ext>
            </a:extLst>
          </p:cNvPr>
          <p:cNvSpPr txBox="1"/>
          <p:nvPr/>
        </p:nvSpPr>
        <p:spPr>
          <a:xfrm>
            <a:off x="557348" y="608239"/>
            <a:ext cx="11181805" cy="4142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6: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 probability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theoretical_prob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&lt;- 1/2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7: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probablity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vs experimental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theoretical_prob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experimental_prob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60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854B79-4034-DCE4-63B2-08AFA23DA52C}"/>
              </a:ext>
            </a:extLst>
          </p:cNvPr>
          <p:cNvSpPr txBox="1"/>
          <p:nvPr/>
        </p:nvSpPr>
        <p:spPr>
          <a:xfrm>
            <a:off x="409303" y="249001"/>
            <a:ext cx="11373394" cy="595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Codes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coin_function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coin_flip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sample(c("H", "T"), 1)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check_flip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coin_flip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== "H"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check_flip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iterations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(1:100000,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coin_function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experimental_prob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sum(iterations)/length(iterations)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theoretical_prob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&lt;- 1/2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theoretical_prob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experimental_prob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22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37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539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2</cp:revision>
  <dcterms:created xsi:type="dcterms:W3CDTF">2024-10-21T04:45:40Z</dcterms:created>
  <dcterms:modified xsi:type="dcterms:W3CDTF">2024-11-15T04:21:23Z</dcterms:modified>
</cp:coreProperties>
</file>