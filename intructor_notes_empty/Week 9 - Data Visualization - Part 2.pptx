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55C39F-DCDD-4388-9AAB-284FE38E3B2C}" v="38" dt="2024-10-22T22:50:50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3047223" y="2227735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Visualization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D6757D-0CEA-B555-7400-A14904244978}"/>
              </a:ext>
            </a:extLst>
          </p:cNvPr>
          <p:cNvSpPr txBox="1"/>
          <p:nvPr/>
        </p:nvSpPr>
        <p:spPr>
          <a:xfrm>
            <a:off x="3048000" y="736070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6C762-C147-828E-D9FD-1FEEDA63D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95" y="1706562"/>
            <a:ext cx="11850805" cy="43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90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4C2317-2226-9393-5423-80292D8FB47C}"/>
              </a:ext>
            </a:extLst>
          </p:cNvPr>
          <p:cNvSpPr txBox="1"/>
          <p:nvPr/>
        </p:nvSpPr>
        <p:spPr>
          <a:xfrm>
            <a:off x="431074" y="691289"/>
            <a:ext cx="11451771" cy="4951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added three categorical variables to the dataset (SAT_2010):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SAT_2010 &lt;- SAT_2010 %&gt;%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905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mutate(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ifelse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pupil_teacher_ratio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&gt;= 15, "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- high","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- low"),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sal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ifelse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(salary &gt;= 52000, "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sal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- high","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sal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- low"),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cut(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sat_pct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breaks = c(0, 30, 60, 100),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labels = c("low", "medium", "high")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))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01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9D0096-E21B-B9FE-B3E4-CD9736F4FFFB}"/>
              </a:ext>
            </a:extLst>
          </p:cNvPr>
          <p:cNvSpPr txBox="1"/>
          <p:nvPr/>
        </p:nvSpPr>
        <p:spPr>
          <a:xfrm>
            <a:off x="705396" y="2222131"/>
            <a:ext cx="11051176" cy="2413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Multivariate Displays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 Graphs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90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AD57B2-D9A2-D510-4D23-90DF73226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777" y="2306399"/>
            <a:ext cx="4833256" cy="41335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9D0096-E21B-B9FE-B3E4-CD9736F4FFFB}"/>
              </a:ext>
            </a:extLst>
          </p:cNvPr>
          <p:cNvSpPr txBox="1"/>
          <p:nvPr/>
        </p:nvSpPr>
        <p:spPr>
          <a:xfrm>
            <a:off x="487681" y="527260"/>
            <a:ext cx="11051176" cy="4636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 a bar graph with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Notice that this is a One Variable Bar Graph (it counts by default)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 &lt;- SAT_2010 %&gt;%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35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3D4B67-E4F6-1428-BFA2-520D9383B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806" y="2323012"/>
            <a:ext cx="5240193" cy="39905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07B213-598E-DB49-9AF5-205A59F83B74}"/>
              </a:ext>
            </a:extLst>
          </p:cNvPr>
          <p:cNvSpPr txBox="1"/>
          <p:nvPr/>
        </p:nvSpPr>
        <p:spPr>
          <a:xfrm>
            <a:off x="246242" y="544485"/>
            <a:ext cx="11329852" cy="5130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2: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 a bar graph with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the x axis and The Average Math Score on the y axis. Notice that this is a two Variable Bar Graph (you need stat = "identity")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fig_2 &lt;- SAT_2010 %&gt;%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math)) +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(stat = "identity")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fig_2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76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A38AA8-FE3D-F694-8077-CD80E2E2E3F0}"/>
              </a:ext>
            </a:extLst>
          </p:cNvPr>
          <p:cNvSpPr txBox="1"/>
          <p:nvPr/>
        </p:nvSpPr>
        <p:spPr>
          <a:xfrm>
            <a:off x="243840" y="338685"/>
            <a:ext cx="11251474" cy="474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3: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Make a bar graph with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the x axis and The Average Math Score on the y axis. Make every column a different color.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fig_3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y = math,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fill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(stat = "identity")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fig_3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CCBB86-D2E6-0C72-5CA5-A295D5C0C5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" b="2566"/>
          <a:stretch/>
        </p:blipFill>
        <p:spPr bwMode="auto">
          <a:xfrm>
            <a:off x="6749818" y="1976847"/>
            <a:ext cx="5198342" cy="39368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0624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54FB18-F700-E754-33B0-8603D5BF20DC}"/>
              </a:ext>
            </a:extLst>
          </p:cNvPr>
          <p:cNvSpPr txBox="1"/>
          <p:nvPr/>
        </p:nvSpPr>
        <p:spPr>
          <a:xfrm>
            <a:off x="296091" y="251599"/>
            <a:ext cx="11268891" cy="5237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4: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(Stacking by a third variable). Make a bar graph with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the x axis and The Average Math Score on the y axis. Stack the bars by the variable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fig_4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fill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(stat = "identity")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fig_4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A1CCFB-5FE3-58CC-C771-165BEAC13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644" y="2020388"/>
            <a:ext cx="5273008" cy="403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10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457BC3-D622-D873-CBB2-94EB402447AD}"/>
              </a:ext>
            </a:extLst>
          </p:cNvPr>
          <p:cNvSpPr txBox="1"/>
          <p:nvPr/>
        </p:nvSpPr>
        <p:spPr>
          <a:xfrm>
            <a:off x="357051" y="216629"/>
            <a:ext cx="11146971" cy="5751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5: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(Grouped Bar Graph). Make a bar graph with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the x axis and The Average Math Score on the y axis. Group the bars by the variable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fig_5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fill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(stat = "identity",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position = "dodge")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fig_5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00A370-3622-094F-7D51-D5A82F936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868" y="2393457"/>
            <a:ext cx="4627154" cy="357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3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6BECEC-F5E8-601E-1F05-6BE3C8C6F7B2}"/>
              </a:ext>
            </a:extLst>
          </p:cNvPr>
          <p:cNvSpPr txBox="1"/>
          <p:nvPr/>
        </p:nvSpPr>
        <p:spPr>
          <a:xfrm>
            <a:off x="3126377" y="2554017"/>
            <a:ext cx="6096000" cy="87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Box Plots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669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092DCA-9D8D-2185-756A-69ECA21422C9}"/>
              </a:ext>
            </a:extLst>
          </p:cNvPr>
          <p:cNvSpPr txBox="1"/>
          <p:nvPr/>
        </p:nvSpPr>
        <p:spPr>
          <a:xfrm>
            <a:off x="513806" y="295413"/>
            <a:ext cx="11312434" cy="474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6: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 side by side box plots with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the x axis and The Average Math Score on the y axis.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fig_6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geom_boxplot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fig_6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C6FB71-DDDC-DE21-4B29-CBCAF0ED6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457" y="1759131"/>
            <a:ext cx="5805927" cy="445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01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864D16-D114-45BD-27A6-4797FF845858}"/>
              </a:ext>
            </a:extLst>
          </p:cNvPr>
          <p:cNvSpPr txBox="1"/>
          <p:nvPr/>
        </p:nvSpPr>
        <p:spPr>
          <a:xfrm>
            <a:off x="490832" y="435135"/>
            <a:ext cx="11210336" cy="5237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7: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 side by side box plots with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the x axis and The Average Math Score on the y axis. Change the filling color of each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fig_7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fill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geom_boxplot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fig_7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6B5D35-991F-CF18-3187-8CFA1BCCF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784" y="2107474"/>
            <a:ext cx="5191712" cy="400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60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DF1206-98C2-D520-5258-242FC358CBA4}"/>
              </a:ext>
            </a:extLst>
          </p:cNvPr>
          <p:cNvSpPr txBox="1"/>
          <p:nvPr/>
        </p:nvSpPr>
        <p:spPr>
          <a:xfrm>
            <a:off x="3048000" y="2634539"/>
            <a:ext cx="6096000" cy="87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Scatter Plots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458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68AD07-B722-CE5F-5426-83D3ADB24E0A}"/>
              </a:ext>
            </a:extLst>
          </p:cNvPr>
          <p:cNvSpPr txBox="1"/>
          <p:nvPr/>
        </p:nvSpPr>
        <p:spPr>
          <a:xfrm>
            <a:off x="400593" y="241239"/>
            <a:ext cx="11434355" cy="466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8: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Scatter Plot on the Expenditure and The Average Math SAT Score.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fig_8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expenditure,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math)) +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fig_8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38FBDF-18D0-6374-F4BE-0551D2D7A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259" y="1576251"/>
            <a:ext cx="5577148" cy="426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89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5635BB-1FA8-4B7D-2826-A5724ED376B8}"/>
              </a:ext>
            </a:extLst>
          </p:cNvPr>
          <p:cNvSpPr txBox="1"/>
          <p:nvPr/>
        </p:nvSpPr>
        <p:spPr>
          <a:xfrm>
            <a:off x="313508" y="243162"/>
            <a:ext cx="11451772" cy="51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9: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Scatter Plot on the Expenditure and The Average Math SAT Score and add a trend line with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fig_9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expenditure,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math)) +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geom_smooth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(method = "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 = FALSE)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fig_9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EF7547-55BD-587F-A243-2007A3E42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491" y="1698172"/>
            <a:ext cx="5568001" cy="427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9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D23AFF-37B3-FEC5-C24F-8B7C6A22942E}"/>
              </a:ext>
            </a:extLst>
          </p:cNvPr>
          <p:cNvSpPr txBox="1"/>
          <p:nvPr/>
        </p:nvSpPr>
        <p:spPr>
          <a:xfrm>
            <a:off x="400593" y="347756"/>
            <a:ext cx="11312435" cy="5669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10: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Scatter Plot on the Expenditure and The Average Math SAT Score and add a polynomial fitting with the standard error band.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fig_10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expenditure,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math)) +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geom_smooth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(method = "loess",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 = TRUE)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fig_10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CD56B1-F0EA-BA12-055C-C7A07CBDE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143" y="1968138"/>
            <a:ext cx="5155832" cy="392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37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814545-6FE9-52FB-F85D-8776218DD01A}"/>
              </a:ext>
            </a:extLst>
          </p:cNvPr>
          <p:cNvSpPr txBox="1"/>
          <p:nvPr/>
        </p:nvSpPr>
        <p:spPr>
          <a:xfrm>
            <a:off x="418011" y="215945"/>
            <a:ext cx="11390812" cy="51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11: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Scatter Plot on the Expenditure and The Average Math SAT Score and split the data with different colors by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fig_11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expenditure,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color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fig_11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652D63-6ABD-15D9-7525-B4992D8E3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985" y="2185851"/>
            <a:ext cx="4668838" cy="402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1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9046BD-29F1-57EF-9D6C-E0934C926A42}"/>
              </a:ext>
            </a:extLst>
          </p:cNvPr>
          <p:cNvSpPr txBox="1"/>
          <p:nvPr/>
        </p:nvSpPr>
        <p:spPr>
          <a:xfrm>
            <a:off x="296091" y="120971"/>
            <a:ext cx="11582400" cy="5669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12: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Scatter Plot on the Expenditure and The Average Math SAT Score and split the data with different colors by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Add a trend line.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fig_12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expenditure,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color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geom_smooth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(method = "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", </a:t>
            </a:r>
            <a:endParaRPr lang="en-US" sz="2500" kern="100" dirty="0">
              <a:solidFill>
                <a:srgbClr val="538135"/>
              </a:solidFill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se = FALSE)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fig_12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05C198-DEA4-4A2B-0DC9-EC6A9D60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333" y="1937743"/>
            <a:ext cx="5054576" cy="386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02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64C377-1E2E-F890-F28F-558D9F51753C}"/>
              </a:ext>
            </a:extLst>
          </p:cNvPr>
          <p:cNvSpPr txBox="1"/>
          <p:nvPr/>
        </p:nvSpPr>
        <p:spPr>
          <a:xfrm>
            <a:off x="365760" y="207237"/>
            <a:ext cx="11486606" cy="51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13: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Scatter Plot on the Expenditure and The Average Math SAT Score and split the data with different shapes by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fig_13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expenditure,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shape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fig_13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500BF2-AF5F-7E93-0EFF-43E6B10CA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505" y="1942012"/>
            <a:ext cx="4766103" cy="366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94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D55EDA-13C1-F026-166A-1F9756938FF7}"/>
              </a:ext>
            </a:extLst>
          </p:cNvPr>
          <p:cNvSpPr txBox="1"/>
          <p:nvPr/>
        </p:nvSpPr>
        <p:spPr>
          <a:xfrm>
            <a:off x="487680" y="381928"/>
            <a:ext cx="11120845" cy="5669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14: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Scatter Plot on the Expenditure and The Average Math SAT Score and split the data with different shapes and colors by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5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fig_14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expenditure,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color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shape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fig_14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DAD1E6-EB8E-15DC-5598-46D2E1B97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648" y="2090058"/>
            <a:ext cx="4862941" cy="372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8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F2C30B-87B5-2E2C-2148-71F85DB62C50}"/>
              </a:ext>
            </a:extLst>
          </p:cNvPr>
          <p:cNvSpPr txBox="1"/>
          <p:nvPr/>
        </p:nvSpPr>
        <p:spPr>
          <a:xfrm>
            <a:off x="971006" y="1951227"/>
            <a:ext cx="10249988" cy="238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Faceting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similar to using shape or color for a categorical variables but puts them on separate plots.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31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53F3DA-FE56-E876-A813-DD90E28B8628}"/>
              </a:ext>
            </a:extLst>
          </p:cNvPr>
          <p:cNvSpPr txBox="1"/>
          <p:nvPr/>
        </p:nvSpPr>
        <p:spPr>
          <a:xfrm>
            <a:off x="322216" y="185463"/>
            <a:ext cx="11538857" cy="6450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Facet with 1 variable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15: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Scatter Plot on the Expenditure and The Average Math SAT Score and split the data by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where each category is a separate plot. Include a trend line. 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fig_15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expenditure,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geom_smooth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(method = "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 = FALSE)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facet_wrap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(~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fig_15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89140-06E2-3348-6CF8-6E34F7E69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233" y="2542903"/>
            <a:ext cx="5496840" cy="383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65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FEF59D-C5EE-F239-5C01-AB730F1F2D82}"/>
              </a:ext>
            </a:extLst>
          </p:cNvPr>
          <p:cNvSpPr txBox="1"/>
          <p:nvPr/>
        </p:nvSpPr>
        <p:spPr>
          <a:xfrm>
            <a:off x="339633" y="150332"/>
            <a:ext cx="11477897" cy="6450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Facet with 2 variables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16: 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Scatter Plot on the Expenditure and The Average Math SAT Score and split the data by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5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25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where each pair of categories is a separate plot. Include a trend line with a standard error band. 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fig_16 &lt;- SAT_2010 %&gt;% 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expenditure,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y = math))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geom_smooth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(method = "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lm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", 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 = TRUE) +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facet_grid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~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SAT_rate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fig_16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E241F-6DB1-3F4C-610A-1119DF25A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129" y="2443643"/>
            <a:ext cx="5593080" cy="426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063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CC7080-73E4-309F-64ED-750F70879F50}"/>
              </a:ext>
            </a:extLst>
          </p:cNvPr>
          <p:cNvSpPr txBox="1"/>
          <p:nvPr/>
        </p:nvSpPr>
        <p:spPr>
          <a:xfrm>
            <a:off x="3230880" y="2164276"/>
            <a:ext cx="6096000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 it Yourself – Recreate These Plots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562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675CB0-3470-E475-F479-1B5355C1C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415" y="944582"/>
            <a:ext cx="7729429" cy="5330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4A02FC-594A-0437-697A-DDECC96CD75A}"/>
              </a:ext>
            </a:extLst>
          </p:cNvPr>
          <p:cNvSpPr txBox="1"/>
          <p:nvPr/>
        </p:nvSpPr>
        <p:spPr>
          <a:xfrm>
            <a:off x="3793020" y="306035"/>
            <a:ext cx="42321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Plot # 1</a:t>
            </a:r>
          </a:p>
        </p:txBody>
      </p:sp>
    </p:spTree>
    <p:extLst>
      <p:ext uri="{BB962C8B-B14F-4D97-AF65-F5344CB8AC3E}">
        <p14:creationId xmlns:p14="http://schemas.microsoft.com/office/powerpoint/2010/main" val="2015917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2F8C20-8E2C-B369-F884-CED1EA250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717" y="1046499"/>
            <a:ext cx="7392955" cy="55054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19528A-C0DE-2715-D985-B4C3B8591E67}"/>
              </a:ext>
            </a:extLst>
          </p:cNvPr>
          <p:cNvSpPr txBox="1"/>
          <p:nvPr/>
        </p:nvSpPr>
        <p:spPr>
          <a:xfrm>
            <a:off x="3793020" y="306035"/>
            <a:ext cx="42321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Plot # 2</a:t>
            </a:r>
          </a:p>
        </p:txBody>
      </p:sp>
    </p:spTree>
    <p:extLst>
      <p:ext uri="{BB962C8B-B14F-4D97-AF65-F5344CB8AC3E}">
        <p14:creationId xmlns:p14="http://schemas.microsoft.com/office/powerpoint/2010/main" val="4108740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A148E2-DDA9-EF3C-6B93-B12289F21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42" y="1077405"/>
            <a:ext cx="8999116" cy="54745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08EABA-99D1-C8CF-1097-0CFA0F892CB7}"/>
              </a:ext>
            </a:extLst>
          </p:cNvPr>
          <p:cNvSpPr txBox="1"/>
          <p:nvPr/>
        </p:nvSpPr>
        <p:spPr>
          <a:xfrm>
            <a:off x="3793020" y="306035"/>
            <a:ext cx="42321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Plot # 3</a:t>
            </a:r>
          </a:p>
        </p:txBody>
      </p:sp>
    </p:spTree>
    <p:extLst>
      <p:ext uri="{BB962C8B-B14F-4D97-AF65-F5344CB8AC3E}">
        <p14:creationId xmlns:p14="http://schemas.microsoft.com/office/powerpoint/2010/main" val="236014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0454D-5D00-5426-59AC-3CCFC6E6D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801" y="860033"/>
            <a:ext cx="7535411" cy="54470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2A1EEF-7753-5AFD-031D-23C8E1A2A73D}"/>
              </a:ext>
            </a:extLst>
          </p:cNvPr>
          <p:cNvSpPr txBox="1"/>
          <p:nvPr/>
        </p:nvSpPr>
        <p:spPr>
          <a:xfrm>
            <a:off x="3793020" y="306035"/>
            <a:ext cx="42321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Plot # 4</a:t>
            </a:r>
          </a:p>
        </p:txBody>
      </p:sp>
    </p:spTree>
    <p:extLst>
      <p:ext uri="{BB962C8B-B14F-4D97-AF65-F5344CB8AC3E}">
        <p14:creationId xmlns:p14="http://schemas.microsoft.com/office/powerpoint/2010/main" val="1091032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E19346-7028-FE0F-2721-B2DFB8156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759" y="947026"/>
            <a:ext cx="7382967" cy="56049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776B9D-9B26-9218-3973-CA30D980B4A2}"/>
              </a:ext>
            </a:extLst>
          </p:cNvPr>
          <p:cNvSpPr txBox="1"/>
          <p:nvPr/>
        </p:nvSpPr>
        <p:spPr>
          <a:xfrm>
            <a:off x="3793020" y="306035"/>
            <a:ext cx="42321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Plot # 5</a:t>
            </a:r>
          </a:p>
        </p:txBody>
      </p:sp>
    </p:spTree>
    <p:extLst>
      <p:ext uri="{BB962C8B-B14F-4D97-AF65-F5344CB8AC3E}">
        <p14:creationId xmlns:p14="http://schemas.microsoft.com/office/powerpoint/2010/main" val="1840960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64DF23-AECC-8F6E-84E5-823466B2B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30" y="424464"/>
            <a:ext cx="3945992" cy="26624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0E13A5-AB65-2564-3C38-50D800F2F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686" y="406188"/>
            <a:ext cx="4488110" cy="2680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8EB743-0DEF-0B56-7836-8C4FF99E0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1" y="3469835"/>
            <a:ext cx="4015428" cy="3215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AE8F01-973B-5CC1-B97C-77A8FDC4B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989" y="3429000"/>
            <a:ext cx="4219663" cy="32559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52C8FC-8D1A-D535-132C-EFCCC5858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408" y="3469835"/>
            <a:ext cx="3781592" cy="3255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6C2E0D-8E91-F7F0-CE4A-BF8C278E69A4}"/>
              </a:ext>
            </a:extLst>
          </p:cNvPr>
          <p:cNvSpPr txBox="1"/>
          <p:nvPr/>
        </p:nvSpPr>
        <p:spPr>
          <a:xfrm>
            <a:off x="1040235" y="103799"/>
            <a:ext cx="26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Plot #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EA590-6A75-F07A-D845-4147113D18F7}"/>
              </a:ext>
            </a:extLst>
          </p:cNvPr>
          <p:cNvSpPr txBox="1"/>
          <p:nvPr/>
        </p:nvSpPr>
        <p:spPr>
          <a:xfrm>
            <a:off x="6650700" y="64151"/>
            <a:ext cx="26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Plot #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2E77A-3A01-AECD-6B35-E59B2518D7AD}"/>
              </a:ext>
            </a:extLst>
          </p:cNvPr>
          <p:cNvSpPr txBox="1"/>
          <p:nvPr/>
        </p:nvSpPr>
        <p:spPr>
          <a:xfrm>
            <a:off x="932577" y="3084944"/>
            <a:ext cx="26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Plot #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07568F-F21D-1042-835E-B075896DCC1A}"/>
              </a:ext>
            </a:extLst>
          </p:cNvPr>
          <p:cNvSpPr txBox="1"/>
          <p:nvPr/>
        </p:nvSpPr>
        <p:spPr>
          <a:xfrm>
            <a:off x="5036193" y="3059668"/>
            <a:ext cx="26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Plot #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1A16F-48DF-A8D0-FF66-F800AC5CD216}"/>
              </a:ext>
            </a:extLst>
          </p:cNvPr>
          <p:cNvSpPr txBox="1"/>
          <p:nvPr/>
        </p:nvSpPr>
        <p:spPr>
          <a:xfrm>
            <a:off x="9178368" y="3100503"/>
            <a:ext cx="26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Plot </a:t>
            </a:r>
            <a:r>
              <a:rPr lang="en-US" b="1"/>
              <a:t># 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62729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1396</Words>
  <Application>Microsoft Office PowerPoint</Application>
  <PresentationFormat>Widescreen</PresentationFormat>
  <Paragraphs>170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1</cp:revision>
  <dcterms:created xsi:type="dcterms:W3CDTF">2024-10-21T04:45:40Z</dcterms:created>
  <dcterms:modified xsi:type="dcterms:W3CDTF">2024-10-22T23:03:51Z</dcterms:modified>
</cp:coreProperties>
</file>